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1520488" cy="6480175"/>
  <p:notesSz cx="6858000" cy="9144000"/>
  <p:embeddedFontLst>
    <p:embeddedFont>
      <p:font typeface="Inter" panose="020B0604020202020204" charset="0"/>
      <p:regular r:id="rId34"/>
      <p:bold r:id="rId35"/>
      <p:italic r:id="rId36"/>
      <p:boldItalic r:id="rId37"/>
    </p:embeddedFont>
    <p:embeddedFont>
      <p:font typeface="Montserrat" panose="00000500000000000000" pitchFamily="2" charset="0"/>
      <p:regular r:id="rId38"/>
      <p:bold r:id="rId39"/>
      <p:italic r:id="rId40"/>
      <p:boldItalic r:id="rId41"/>
    </p:embeddedFont>
    <p:embeddedFont>
      <p:font typeface="Montserrat Black" panose="00000A00000000000000" pitchFamily="2" charset="0"/>
      <p:bold r:id="rId42"/>
      <p:boldItalic r:id="rId43"/>
    </p:embeddedFont>
    <p:embeddedFont>
      <p:font typeface="Plus Jakarta Sans" panose="020B0604020202020204" charset="0"/>
      <p:regular r:id="rId44"/>
      <p:bold r:id="rId45"/>
      <p:italic r:id="rId46"/>
      <p:boldItalic r:id="rId47"/>
    </p:embeddedFont>
    <p:embeddedFont>
      <p:font typeface="Roboto" panose="02000000000000000000" pitchFamily="2" charset="0"/>
      <p:regular r:id="rId48"/>
      <p:bold r:id="rId49"/>
      <p:italic r:id="rId50"/>
      <p:boldItalic r:id="rId5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41">
          <p15:clr>
            <a:srgbClr val="A4A3A4"/>
          </p15:clr>
        </p15:guide>
        <p15:guide id="2" pos="3629">
          <p15:clr>
            <a:srgbClr val="A4A3A4"/>
          </p15:clr>
        </p15:guide>
        <p15:guide id="3" pos="2041">
          <p15:clr>
            <a:srgbClr val="A4A3A4"/>
          </p15:clr>
        </p15:guide>
        <p15:guide id="4" pos="6804">
          <p15:clr>
            <a:srgbClr val="A4A3A4"/>
          </p15:clr>
        </p15:guide>
        <p15:guide id="5" orient="horz" pos="453">
          <p15:clr>
            <a:srgbClr val="A4A3A4"/>
          </p15:clr>
        </p15:guide>
        <p15:guide id="6" orient="horz" pos="3629">
          <p15:clr>
            <a:srgbClr val="A4A3A4"/>
          </p15:clr>
        </p15:guide>
        <p15:guide id="7" pos="1905">
          <p15:clr>
            <a:srgbClr val="A4A3A4"/>
          </p15:clr>
        </p15:guide>
        <p15:guide id="8" pos="5216">
          <p15:clr>
            <a:srgbClr val="A4A3A4"/>
          </p15:clr>
        </p15:guide>
        <p15:guide id="9" pos="5329">
          <p15:clr>
            <a:srgbClr val="A4A3A4"/>
          </p15:clr>
        </p15:guide>
        <p15:guide id="10" pos="2132">
          <p15:clr>
            <a:srgbClr val="A4A3A4"/>
          </p15:clr>
        </p15:guide>
        <p15:guide id="11" pos="3492">
          <p15:clr>
            <a:srgbClr val="A4A3A4"/>
          </p15:clr>
        </p15:guide>
        <p15:guide id="12" pos="5080">
          <p15:clr>
            <a:srgbClr val="A4A3A4"/>
          </p15:clr>
        </p15:guide>
        <p15:guide id="13" pos="3765">
          <p15:clr>
            <a:srgbClr val="A4A3A4"/>
          </p15:clr>
        </p15:guide>
        <p15:guide id="14" pos="453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55" roundtripDataSignature="AMtx7mjrAI+L23Mw3ljXebnzLcRxZIEQo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D557F7-8729-4D40-8B00-1272EFFA1CDD}" v="4" dt="2026-09-21T16:29:14.4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496" y="52"/>
      </p:cViewPr>
      <p:guideLst>
        <p:guide orient="horz" pos="2041"/>
        <p:guide pos="3629"/>
        <p:guide pos="2041"/>
        <p:guide pos="6804"/>
        <p:guide orient="horz" pos="453"/>
        <p:guide orient="horz" pos="3629"/>
        <p:guide pos="1905"/>
        <p:guide pos="5216"/>
        <p:guide pos="5329"/>
        <p:guide pos="2132"/>
        <p:guide pos="3492"/>
        <p:guide pos="5080"/>
        <p:guide pos="3765"/>
        <p:guide pos="45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font" Target="fonts/font9.fntdata"/><Relationship Id="rId47" Type="http://schemas.openxmlformats.org/officeDocument/2006/relationships/font" Target="fonts/font14.fntdata"/><Relationship Id="rId50" Type="http://schemas.openxmlformats.org/officeDocument/2006/relationships/font" Target="fonts/font17.fntdata"/><Relationship Id="rId55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font" Target="fonts/font12.fntdata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microsoft.com/office/2015/10/relationships/revisionInfo" Target="revisionInfo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font" Target="fonts/font10.fntdata"/><Relationship Id="rId48" Type="http://schemas.openxmlformats.org/officeDocument/2006/relationships/font" Target="fonts/font15.fntdata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font" Target="fonts/font18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46" Type="http://schemas.openxmlformats.org/officeDocument/2006/relationships/font" Target="fonts/font13.fntdata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49" Type="http://schemas.openxmlformats.org/officeDocument/2006/relationships/font" Target="fonts/font16.fntdata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11.fntdata"/><Relationship Id="rId6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ao Caires" userId="c665605e-c4a9-4493-831f-acc920f2cd2d" providerId="ADAL" clId="{84C181D3-1F3D-4916-949D-97F9DDC933DD}"/>
    <pc:docChg chg="custSel modSld">
      <pc:chgData name="Joao Caires" userId="c665605e-c4a9-4493-831f-acc920f2cd2d" providerId="ADAL" clId="{84C181D3-1F3D-4916-949D-97F9DDC933DD}" dt="2026-09-21T16:29:27.400" v="15" actId="1076"/>
      <pc:docMkLst>
        <pc:docMk/>
      </pc:docMkLst>
      <pc:sldChg chg="modSp mod">
        <pc:chgData name="Joao Caires" userId="c665605e-c4a9-4493-831f-acc920f2cd2d" providerId="ADAL" clId="{84C181D3-1F3D-4916-949D-97F9DDC933DD}" dt="2026-09-21T13:07:02.379" v="1" actId="122"/>
        <pc:sldMkLst>
          <pc:docMk/>
          <pc:sldMk cId="0" sldId="261"/>
        </pc:sldMkLst>
        <pc:spChg chg="mod">
          <ac:chgData name="Joao Caires" userId="c665605e-c4a9-4493-831f-acc920f2cd2d" providerId="ADAL" clId="{84C181D3-1F3D-4916-949D-97F9DDC933DD}" dt="2026-09-21T13:07:02.379" v="1" actId="122"/>
          <ac:spMkLst>
            <pc:docMk/>
            <pc:sldMk cId="0" sldId="261"/>
            <ac:spMk id="165" creationId="{00000000-0000-0000-0000-000000000000}"/>
          </ac:spMkLst>
        </pc:spChg>
      </pc:sldChg>
      <pc:sldChg chg="modSp mod">
        <pc:chgData name="Joao Caires" userId="c665605e-c4a9-4493-831f-acc920f2cd2d" providerId="ADAL" clId="{84C181D3-1F3D-4916-949D-97F9DDC933DD}" dt="2026-09-21T16:29:03.372" v="6" actId="27636"/>
        <pc:sldMkLst>
          <pc:docMk/>
          <pc:sldMk cId="0" sldId="262"/>
        </pc:sldMkLst>
        <pc:spChg chg="mod">
          <ac:chgData name="Joao Caires" userId="c665605e-c4a9-4493-831f-acc920f2cd2d" providerId="ADAL" clId="{84C181D3-1F3D-4916-949D-97F9DDC933DD}" dt="2026-09-21T16:29:03.372" v="6" actId="27636"/>
          <ac:spMkLst>
            <pc:docMk/>
            <pc:sldMk cId="0" sldId="262"/>
            <ac:spMk id="175" creationId="{00000000-0000-0000-0000-000000000000}"/>
          </ac:spMkLst>
        </pc:spChg>
      </pc:sldChg>
      <pc:sldChg chg="modSp mod">
        <pc:chgData name="Joao Caires" userId="c665605e-c4a9-4493-831f-acc920f2cd2d" providerId="ADAL" clId="{84C181D3-1F3D-4916-949D-97F9DDC933DD}" dt="2026-09-21T13:07:20.205" v="4" actId="1076"/>
        <pc:sldMkLst>
          <pc:docMk/>
          <pc:sldMk cId="0" sldId="265"/>
        </pc:sldMkLst>
        <pc:spChg chg="mod">
          <ac:chgData name="Joao Caires" userId="c665605e-c4a9-4493-831f-acc920f2cd2d" providerId="ADAL" clId="{84C181D3-1F3D-4916-949D-97F9DDC933DD}" dt="2026-09-21T13:07:16.499" v="2" actId="1076"/>
          <ac:spMkLst>
            <pc:docMk/>
            <pc:sldMk cId="0" sldId="265"/>
            <ac:spMk id="264" creationId="{00000000-0000-0000-0000-000000000000}"/>
          </ac:spMkLst>
        </pc:spChg>
        <pc:spChg chg="mod">
          <ac:chgData name="Joao Caires" userId="c665605e-c4a9-4493-831f-acc920f2cd2d" providerId="ADAL" clId="{84C181D3-1F3D-4916-949D-97F9DDC933DD}" dt="2026-09-21T13:07:20.205" v="4" actId="1076"/>
          <ac:spMkLst>
            <pc:docMk/>
            <pc:sldMk cId="0" sldId="265"/>
            <ac:spMk id="265" creationId="{00000000-0000-0000-0000-000000000000}"/>
          </ac:spMkLst>
        </pc:spChg>
        <pc:picChg chg="mod">
          <ac:chgData name="Joao Caires" userId="c665605e-c4a9-4493-831f-acc920f2cd2d" providerId="ADAL" clId="{84C181D3-1F3D-4916-949D-97F9DDC933DD}" dt="2026-09-21T13:07:18.055" v="3" actId="1076"/>
          <ac:picMkLst>
            <pc:docMk/>
            <pc:sldMk cId="0" sldId="265"/>
            <ac:picMk id="254" creationId="{00000000-0000-0000-0000-000000000000}"/>
          </ac:picMkLst>
        </pc:picChg>
      </pc:sldChg>
      <pc:sldChg chg="modSp mod">
        <pc:chgData name="Joao Caires" userId="c665605e-c4a9-4493-831f-acc920f2cd2d" providerId="ADAL" clId="{84C181D3-1F3D-4916-949D-97F9DDC933DD}" dt="2026-09-21T16:29:03.372" v="7" actId="27636"/>
        <pc:sldMkLst>
          <pc:docMk/>
          <pc:sldMk cId="0" sldId="268"/>
        </pc:sldMkLst>
        <pc:spChg chg="mod">
          <ac:chgData name="Joao Caires" userId="c665605e-c4a9-4493-831f-acc920f2cd2d" providerId="ADAL" clId="{84C181D3-1F3D-4916-949D-97F9DDC933DD}" dt="2026-09-21T16:29:03.372" v="7" actId="27636"/>
          <ac:spMkLst>
            <pc:docMk/>
            <pc:sldMk cId="0" sldId="268"/>
            <ac:spMk id="305" creationId="{00000000-0000-0000-0000-000000000000}"/>
          </ac:spMkLst>
        </pc:spChg>
      </pc:sldChg>
      <pc:sldChg chg="modSp mod">
        <pc:chgData name="Joao Caires" userId="c665605e-c4a9-4493-831f-acc920f2cd2d" providerId="ADAL" clId="{84C181D3-1F3D-4916-949D-97F9DDC933DD}" dt="2026-09-21T16:29:03.372" v="8" actId="27636"/>
        <pc:sldMkLst>
          <pc:docMk/>
          <pc:sldMk cId="0" sldId="274"/>
        </pc:sldMkLst>
        <pc:spChg chg="mod">
          <ac:chgData name="Joao Caires" userId="c665605e-c4a9-4493-831f-acc920f2cd2d" providerId="ADAL" clId="{84C181D3-1F3D-4916-949D-97F9DDC933DD}" dt="2026-09-21T16:29:03.372" v="8" actId="27636"/>
          <ac:spMkLst>
            <pc:docMk/>
            <pc:sldMk cId="0" sldId="274"/>
            <ac:spMk id="422" creationId="{00000000-0000-0000-0000-000000000000}"/>
          </ac:spMkLst>
        </pc:spChg>
      </pc:sldChg>
      <pc:sldChg chg="modSp mod">
        <pc:chgData name="Joao Caires" userId="c665605e-c4a9-4493-831f-acc920f2cd2d" providerId="ADAL" clId="{84C181D3-1F3D-4916-949D-97F9DDC933DD}" dt="2026-09-21T16:29:03.388" v="9" actId="27636"/>
        <pc:sldMkLst>
          <pc:docMk/>
          <pc:sldMk cId="0" sldId="281"/>
        </pc:sldMkLst>
        <pc:spChg chg="mod">
          <ac:chgData name="Joao Caires" userId="c665605e-c4a9-4493-831f-acc920f2cd2d" providerId="ADAL" clId="{84C181D3-1F3D-4916-949D-97F9DDC933DD}" dt="2026-09-21T16:29:03.388" v="9" actId="27636"/>
          <ac:spMkLst>
            <pc:docMk/>
            <pc:sldMk cId="0" sldId="281"/>
            <ac:spMk id="521" creationId="{00000000-0000-0000-0000-000000000000}"/>
          </ac:spMkLst>
        </pc:spChg>
      </pc:sldChg>
      <pc:sldChg chg="addSp modSp mod">
        <pc:chgData name="Joao Caires" userId="c665605e-c4a9-4493-831f-acc920f2cd2d" providerId="ADAL" clId="{84C181D3-1F3D-4916-949D-97F9DDC933DD}" dt="2026-09-21T16:29:27.400" v="15" actId="1076"/>
        <pc:sldMkLst>
          <pc:docMk/>
          <pc:sldMk cId="0" sldId="286"/>
        </pc:sldMkLst>
        <pc:spChg chg="add mod">
          <ac:chgData name="Joao Caires" userId="c665605e-c4a9-4493-831f-acc920f2cd2d" providerId="ADAL" clId="{84C181D3-1F3D-4916-949D-97F9DDC933DD}" dt="2026-09-21T16:29:21.835" v="14" actId="1076"/>
          <ac:spMkLst>
            <pc:docMk/>
            <pc:sldMk cId="0" sldId="286"/>
            <ac:spMk id="2" creationId="{54DC2040-41CE-696E-B8F6-5827BC4A13BC}"/>
          </ac:spMkLst>
        </pc:spChg>
        <pc:picChg chg="mod">
          <ac:chgData name="Joao Caires" userId="c665605e-c4a9-4493-831f-acc920f2cd2d" providerId="ADAL" clId="{84C181D3-1F3D-4916-949D-97F9DDC933DD}" dt="2026-09-21T16:29:27.400" v="15" actId="1076"/>
          <ac:picMkLst>
            <pc:docMk/>
            <pc:sldMk cId="0" sldId="286"/>
            <ac:picMk id="620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3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3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3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3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3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3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3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3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3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4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Abrir com uma cena concreta do dia a dia, não com 'o que é IA'. Deixar a pergunta do título no ar: hoje a IA lê o requisito, escreve o código e escreve o teste. Então, testado por quem? Não responder ainda.</a:t>
            </a: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" name="Google Shape;9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6" name="Google Shape;10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" name="Google Shape;11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4" name="Google Shape;14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a31ab02f3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9" name="Google Shape;169;g3fa31ab02f3_1_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g3fa31ab02f3_1_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fa31ab02f3_1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8" name="Google Shape;178;g3fa31ab02f3_1_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é IMPORTANTE diferenciar as etapas de teste e de desenvolvimento, mas ao mesmo tempo, salientar como ambas estão mais semelhantes do que nunca.</a:t>
            </a:r>
            <a:endParaRPr/>
          </a:p>
        </p:txBody>
      </p:sp>
      <p:sp>
        <p:nvSpPr>
          <p:cNvPr id="179" name="Google Shape;179;g3fa31ab02f3_1_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6" name="Google Shape;206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fb7faf8a4f_0_2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8" name="Google Shape;228;g3fb7faf8a4f_0_2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g3fb7faf8a4f_0_2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8" name="Google Shape;268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Com isso: COMO o QA acompanha essa necessidade de entregar ainda mais testes com AINDA MAIS RISCOS de código derivado de IA?</a:t>
            </a:r>
            <a:endParaRPr/>
          </a:p>
        </p:txBody>
      </p:sp>
      <p:sp>
        <p:nvSpPr>
          <p:cNvPr id="269" name="Google Shape;269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fba01affe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5" name="Google Shape;285;g3fba01affed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g3fba01affed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9" name="Google Shape;299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8" name="Google Shape;308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" name="Google Shape;309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5" name="Google Shape;325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4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 primeiro é o exemplo que sempre funciona com plateia mista: mensagem na tela, dado perdido no banco. Se puder mostrar o código do teste fraco por 10 segundos, mostre.</a:t>
            </a:r>
            <a:endParaRPr/>
          </a:p>
        </p:txBody>
      </p:sp>
      <p:sp>
        <p:nvSpPr>
          <p:cNvPr id="326" name="Google Shape;326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3" name="Google Shape;343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5" name="Google Shape;375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4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Crédito em voz alta: a estrutura é do Júlio de Lima, e a biblioteca dele é aberta sob CC BY 4.0 — vale mandar o link no chat do evento. Ligar ao bloco anterior: as duas regras que mais evitam o teste-espelho são apontar o contexto para o requisito e proibir suposição. Dois minutos, sem ler os cinco itens.</a:t>
            </a:r>
            <a:endParaRPr/>
          </a:p>
        </p:txBody>
      </p:sp>
      <p:sp>
        <p:nvSpPr>
          <p:cNvPr id="376" name="Google Shape;376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00" name="Google Shape;400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4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 a demo for ao vivo: ticket já preparado, repositório em estado conhecido, rede própria, e ponto de parada definido. Se algo travar, cortar para a gravação sem comentar o erro. Não estender: o próximo bloco é o mais importante da palestra.</a:t>
            </a:r>
            <a:endParaRPr/>
          </a:p>
        </p:txBody>
      </p:sp>
      <p:sp>
        <p:nvSpPr>
          <p:cNvPr id="401" name="Google Shape;401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6" name="Google Shape;416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7" name="Google Shape;417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5" name="Google Shape;425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file:///C:/Projects/WeComp/painel/painel.html</a:t>
            </a:r>
            <a:endParaRPr/>
          </a:p>
        </p:txBody>
      </p:sp>
      <p:sp>
        <p:nvSpPr>
          <p:cNvPr id="426" name="Google Shape;426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3fb7faf8a4f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5" name="Google Shape;445;g3fb7faf8a4f_0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6" name="Google Shape;446;g3fb7faf8a4f_0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g3fb7faf8a4f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9" name="Google Shape;459;g3fb7faf8a4f_0_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0" name="Google Shape;460;g3fb7faf8a4f_0_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g3fb7faf8a4f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3" name="Google Shape;473;g3fb7faf8a4f_0_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g3fb7faf8a4f_0_4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g3fb7faf8a4f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87" name="Google Shape;487;g3fb7faf8a4f_0_5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8" name="Google Shape;488;g3fb7faf8a4f_0_5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3fb7faf8a4f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1" name="Google Shape;501;g3fb7faf8a4f_0_7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2" name="Google Shape;502;g3fb7faf8a4f_0_7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5" name="Google Shape;515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6" name="Google Shape;516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4" name="Google Shape;524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5" name="Google Shape;525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6" name="Google Shape;546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7" name="Google Shape;547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fba01affed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74" name="Google Shape;574;g3fba01affed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5" name="Google Shape;575;g3fba01affed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0" name="Google Shape;600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1" name="Google Shape;601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7" name="Google Shape;617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8" name="Google Shape;618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ítulo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5"/>
          <p:cNvSpPr txBox="1">
            <a:spLocks noGrp="1"/>
          </p:cNvSpPr>
          <p:nvPr>
            <p:ph type="ctrTitle"/>
          </p:nvPr>
        </p:nvSpPr>
        <p:spPr>
          <a:xfrm>
            <a:off x="1440061" y="1060529"/>
            <a:ext cx="8640366" cy="22560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69"/>
              <a:buFont typeface="Calibri"/>
              <a:buNone/>
              <a:defRPr sz="566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5"/>
          <p:cNvSpPr txBox="1">
            <a:spLocks noGrp="1"/>
          </p:cNvSpPr>
          <p:nvPr>
            <p:ph type="subTitle" idx="1"/>
          </p:nvPr>
        </p:nvSpPr>
        <p:spPr>
          <a:xfrm>
            <a:off x="1440061" y="3403592"/>
            <a:ext cx="8640366" cy="15645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945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1pPr>
            <a:lvl2pPr lvl="1" algn="ctr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90"/>
              <a:buNone/>
              <a:defRPr sz="1890"/>
            </a:lvl2pPr>
            <a:lvl3pPr lvl="2" algn="ctr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/>
            </a:lvl3pPr>
            <a:lvl4pPr lvl="3" algn="ctr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512"/>
              <a:buNone/>
              <a:defRPr sz="1512"/>
            </a:lvl4pPr>
            <a:lvl5pPr lvl="4" algn="ctr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512"/>
              <a:buNone/>
              <a:defRPr sz="1512"/>
            </a:lvl5pPr>
            <a:lvl6pPr lvl="5" algn="ctr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512"/>
              <a:buNone/>
              <a:defRPr sz="1512"/>
            </a:lvl6pPr>
            <a:lvl7pPr lvl="6" algn="ctr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512"/>
              <a:buNone/>
              <a:defRPr sz="1512"/>
            </a:lvl7pPr>
            <a:lvl8pPr lvl="7" algn="ctr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512"/>
              <a:buNone/>
              <a:defRPr sz="1512"/>
            </a:lvl8pPr>
            <a:lvl9pPr lvl="8" algn="ctr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512"/>
              <a:buNone/>
              <a:defRPr sz="1512"/>
            </a:lvl9pPr>
          </a:lstStyle>
          <a:p>
            <a:endParaRPr/>
          </a:p>
        </p:txBody>
      </p:sp>
      <p:sp>
        <p:nvSpPr>
          <p:cNvPr id="18" name="Google Shape;18;p25"/>
          <p:cNvSpPr txBox="1">
            <a:spLocks noGrp="1"/>
          </p:cNvSpPr>
          <p:nvPr>
            <p:ph type="dt" idx="10"/>
          </p:nvPr>
        </p:nvSpPr>
        <p:spPr>
          <a:xfrm>
            <a:off x="792033" y="6006163"/>
            <a:ext cx="2592110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5"/>
          <p:cNvSpPr txBox="1">
            <a:spLocks noGrp="1"/>
          </p:cNvSpPr>
          <p:nvPr>
            <p:ph type="ftr" idx="11"/>
          </p:nvPr>
        </p:nvSpPr>
        <p:spPr>
          <a:xfrm>
            <a:off x="3816162" y="6006163"/>
            <a:ext cx="388816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5"/>
          <p:cNvSpPr txBox="1">
            <a:spLocks noGrp="1"/>
          </p:cNvSpPr>
          <p:nvPr>
            <p:ph type="sldNum" idx="12"/>
          </p:nvPr>
        </p:nvSpPr>
        <p:spPr>
          <a:xfrm>
            <a:off x="8136345" y="6006163"/>
            <a:ext cx="2592110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nteúdo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6"/>
          <p:cNvSpPr txBox="1">
            <a:spLocks noGrp="1"/>
          </p:cNvSpPr>
          <p:nvPr>
            <p:ph type="title"/>
          </p:nvPr>
        </p:nvSpPr>
        <p:spPr>
          <a:xfrm>
            <a:off x="792034" y="345010"/>
            <a:ext cx="9936421" cy="1252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6"/>
          <p:cNvSpPr txBox="1">
            <a:spLocks noGrp="1"/>
          </p:cNvSpPr>
          <p:nvPr>
            <p:ph type="body" idx="1"/>
          </p:nvPr>
        </p:nvSpPr>
        <p:spPr>
          <a:xfrm>
            <a:off x="792034" y="1725046"/>
            <a:ext cx="9936421" cy="4111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94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26"/>
          <p:cNvSpPr txBox="1">
            <a:spLocks noGrp="1"/>
          </p:cNvSpPr>
          <p:nvPr>
            <p:ph type="dt" idx="10"/>
          </p:nvPr>
        </p:nvSpPr>
        <p:spPr>
          <a:xfrm>
            <a:off x="792033" y="6006163"/>
            <a:ext cx="2592110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6"/>
          <p:cNvSpPr txBox="1">
            <a:spLocks noGrp="1"/>
          </p:cNvSpPr>
          <p:nvPr>
            <p:ph type="ftr" idx="11"/>
          </p:nvPr>
        </p:nvSpPr>
        <p:spPr>
          <a:xfrm>
            <a:off x="3816162" y="6006163"/>
            <a:ext cx="388816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6"/>
          <p:cNvSpPr txBox="1">
            <a:spLocks noGrp="1"/>
          </p:cNvSpPr>
          <p:nvPr>
            <p:ph type="sldNum" idx="12"/>
          </p:nvPr>
        </p:nvSpPr>
        <p:spPr>
          <a:xfrm>
            <a:off x="8136345" y="6006163"/>
            <a:ext cx="2592110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beçalho da Seção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7"/>
          <p:cNvSpPr txBox="1">
            <a:spLocks noGrp="1"/>
          </p:cNvSpPr>
          <p:nvPr>
            <p:ph type="title"/>
          </p:nvPr>
        </p:nvSpPr>
        <p:spPr>
          <a:xfrm>
            <a:off x="786033" y="1615545"/>
            <a:ext cx="9936421" cy="2695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69"/>
              <a:buFont typeface="Calibri"/>
              <a:buNone/>
              <a:defRPr sz="566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7"/>
          <p:cNvSpPr txBox="1">
            <a:spLocks noGrp="1"/>
          </p:cNvSpPr>
          <p:nvPr>
            <p:ph type="body" idx="1"/>
          </p:nvPr>
        </p:nvSpPr>
        <p:spPr>
          <a:xfrm>
            <a:off x="786033" y="4336618"/>
            <a:ext cx="9936421" cy="1417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945"/>
              </a:spcBef>
              <a:spcAft>
                <a:spcPts val="0"/>
              </a:spcAft>
              <a:buClr>
                <a:srgbClr val="888888"/>
              </a:buClr>
              <a:buSzPts val="2268"/>
              <a:buNone/>
              <a:defRPr sz="2268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rgbClr val="888888"/>
              </a:buClr>
              <a:buSzPts val="1890"/>
              <a:buNone/>
              <a:defRPr sz="189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rgbClr val="888888"/>
              </a:buClr>
              <a:buSzPts val="1701"/>
              <a:buNone/>
              <a:defRPr sz="1701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rgbClr val="888888"/>
              </a:buClr>
              <a:buSzPts val="1512"/>
              <a:buNone/>
              <a:defRPr sz="1512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rgbClr val="888888"/>
              </a:buClr>
              <a:buSzPts val="1512"/>
              <a:buNone/>
              <a:defRPr sz="1512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rgbClr val="888888"/>
              </a:buClr>
              <a:buSzPts val="1512"/>
              <a:buNone/>
              <a:defRPr sz="1512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rgbClr val="888888"/>
              </a:buClr>
              <a:buSzPts val="1512"/>
              <a:buNone/>
              <a:defRPr sz="1512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rgbClr val="888888"/>
              </a:buClr>
              <a:buSzPts val="1512"/>
              <a:buNone/>
              <a:defRPr sz="1512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rgbClr val="888888"/>
              </a:buClr>
              <a:buSzPts val="1512"/>
              <a:buNone/>
              <a:defRPr sz="1512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27"/>
          <p:cNvSpPr txBox="1">
            <a:spLocks noGrp="1"/>
          </p:cNvSpPr>
          <p:nvPr>
            <p:ph type="dt" idx="10"/>
          </p:nvPr>
        </p:nvSpPr>
        <p:spPr>
          <a:xfrm>
            <a:off x="792033" y="6006163"/>
            <a:ext cx="2592110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7"/>
          <p:cNvSpPr txBox="1">
            <a:spLocks noGrp="1"/>
          </p:cNvSpPr>
          <p:nvPr>
            <p:ph type="ftr" idx="11"/>
          </p:nvPr>
        </p:nvSpPr>
        <p:spPr>
          <a:xfrm>
            <a:off x="3816162" y="6006163"/>
            <a:ext cx="388816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7"/>
          <p:cNvSpPr txBox="1">
            <a:spLocks noGrp="1"/>
          </p:cNvSpPr>
          <p:nvPr>
            <p:ph type="sldNum" idx="12"/>
          </p:nvPr>
        </p:nvSpPr>
        <p:spPr>
          <a:xfrm>
            <a:off x="8136345" y="6006163"/>
            <a:ext cx="2592110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as Partes de Conteúdo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8"/>
          <p:cNvSpPr txBox="1">
            <a:spLocks noGrp="1"/>
          </p:cNvSpPr>
          <p:nvPr>
            <p:ph type="title"/>
          </p:nvPr>
        </p:nvSpPr>
        <p:spPr>
          <a:xfrm>
            <a:off x="792034" y="345010"/>
            <a:ext cx="9936421" cy="1252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8"/>
          <p:cNvSpPr txBox="1">
            <a:spLocks noGrp="1"/>
          </p:cNvSpPr>
          <p:nvPr>
            <p:ph type="body" idx="1"/>
          </p:nvPr>
        </p:nvSpPr>
        <p:spPr>
          <a:xfrm>
            <a:off x="792034" y="1725046"/>
            <a:ext cx="4896207" cy="4111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94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8"/>
          <p:cNvSpPr txBox="1">
            <a:spLocks noGrp="1"/>
          </p:cNvSpPr>
          <p:nvPr>
            <p:ph type="body" idx="2"/>
          </p:nvPr>
        </p:nvSpPr>
        <p:spPr>
          <a:xfrm>
            <a:off x="5832247" y="1725046"/>
            <a:ext cx="4896207" cy="4111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94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8"/>
          <p:cNvSpPr txBox="1">
            <a:spLocks noGrp="1"/>
          </p:cNvSpPr>
          <p:nvPr>
            <p:ph type="dt" idx="10"/>
          </p:nvPr>
        </p:nvSpPr>
        <p:spPr>
          <a:xfrm>
            <a:off x="792033" y="6006163"/>
            <a:ext cx="2592110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8"/>
          <p:cNvSpPr txBox="1">
            <a:spLocks noGrp="1"/>
          </p:cNvSpPr>
          <p:nvPr>
            <p:ph type="ftr" idx="11"/>
          </p:nvPr>
        </p:nvSpPr>
        <p:spPr>
          <a:xfrm>
            <a:off x="3816162" y="6006163"/>
            <a:ext cx="388816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8"/>
          <p:cNvSpPr txBox="1">
            <a:spLocks noGrp="1"/>
          </p:cNvSpPr>
          <p:nvPr>
            <p:ph type="sldNum" idx="12"/>
          </p:nvPr>
        </p:nvSpPr>
        <p:spPr>
          <a:xfrm>
            <a:off x="8136345" y="6006163"/>
            <a:ext cx="2592110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ção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9"/>
          <p:cNvSpPr txBox="1">
            <a:spLocks noGrp="1"/>
          </p:cNvSpPr>
          <p:nvPr>
            <p:ph type="title"/>
          </p:nvPr>
        </p:nvSpPr>
        <p:spPr>
          <a:xfrm>
            <a:off x="793534" y="345010"/>
            <a:ext cx="9936421" cy="1252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9"/>
          <p:cNvSpPr txBox="1">
            <a:spLocks noGrp="1"/>
          </p:cNvSpPr>
          <p:nvPr>
            <p:ph type="body" idx="1"/>
          </p:nvPr>
        </p:nvSpPr>
        <p:spPr>
          <a:xfrm>
            <a:off x="793535" y="1588543"/>
            <a:ext cx="4873706" cy="778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945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1pPr>
            <a:lvl2pPr marL="914400" lvl="1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90"/>
              <a:buNone/>
              <a:defRPr sz="1890" b="1"/>
            </a:lvl2pPr>
            <a:lvl3pPr marL="1371600" lvl="2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 b="1"/>
            </a:lvl3pPr>
            <a:lvl4pPr marL="1828800" lvl="3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512"/>
              <a:buNone/>
              <a:defRPr sz="1512" b="1"/>
            </a:lvl4pPr>
            <a:lvl5pPr marL="2286000" lvl="4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512"/>
              <a:buNone/>
              <a:defRPr sz="1512" b="1"/>
            </a:lvl5pPr>
            <a:lvl6pPr marL="2743200" lvl="5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512"/>
              <a:buNone/>
              <a:defRPr sz="1512" b="1"/>
            </a:lvl6pPr>
            <a:lvl7pPr marL="3200400" lvl="6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512"/>
              <a:buNone/>
              <a:defRPr sz="1512" b="1"/>
            </a:lvl7pPr>
            <a:lvl8pPr marL="3657600" lvl="7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512"/>
              <a:buNone/>
              <a:defRPr sz="1512" b="1"/>
            </a:lvl8pPr>
            <a:lvl9pPr marL="4114800" lvl="8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512"/>
              <a:buNone/>
              <a:defRPr sz="1512" b="1"/>
            </a:lvl9pPr>
          </a:lstStyle>
          <a:p>
            <a:endParaRPr/>
          </a:p>
        </p:txBody>
      </p:sp>
      <p:sp>
        <p:nvSpPr>
          <p:cNvPr id="43" name="Google Shape;43;p29"/>
          <p:cNvSpPr txBox="1">
            <a:spLocks noGrp="1"/>
          </p:cNvSpPr>
          <p:nvPr>
            <p:ph type="body" idx="2"/>
          </p:nvPr>
        </p:nvSpPr>
        <p:spPr>
          <a:xfrm>
            <a:off x="793535" y="2367064"/>
            <a:ext cx="4873706" cy="34815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94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29"/>
          <p:cNvSpPr txBox="1">
            <a:spLocks noGrp="1"/>
          </p:cNvSpPr>
          <p:nvPr>
            <p:ph type="body" idx="3"/>
          </p:nvPr>
        </p:nvSpPr>
        <p:spPr>
          <a:xfrm>
            <a:off x="5832247" y="1588543"/>
            <a:ext cx="4897708" cy="778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945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1pPr>
            <a:lvl2pPr marL="914400" lvl="1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90"/>
              <a:buNone/>
              <a:defRPr sz="1890" b="1"/>
            </a:lvl2pPr>
            <a:lvl3pPr marL="1371600" lvl="2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 b="1"/>
            </a:lvl3pPr>
            <a:lvl4pPr marL="1828800" lvl="3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512"/>
              <a:buNone/>
              <a:defRPr sz="1512" b="1"/>
            </a:lvl4pPr>
            <a:lvl5pPr marL="2286000" lvl="4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512"/>
              <a:buNone/>
              <a:defRPr sz="1512" b="1"/>
            </a:lvl5pPr>
            <a:lvl6pPr marL="2743200" lvl="5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512"/>
              <a:buNone/>
              <a:defRPr sz="1512" b="1"/>
            </a:lvl6pPr>
            <a:lvl7pPr marL="3200400" lvl="6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512"/>
              <a:buNone/>
              <a:defRPr sz="1512" b="1"/>
            </a:lvl7pPr>
            <a:lvl8pPr marL="3657600" lvl="7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512"/>
              <a:buNone/>
              <a:defRPr sz="1512" b="1"/>
            </a:lvl8pPr>
            <a:lvl9pPr marL="4114800" lvl="8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512"/>
              <a:buNone/>
              <a:defRPr sz="1512" b="1"/>
            </a:lvl9pPr>
          </a:lstStyle>
          <a:p>
            <a:endParaRPr/>
          </a:p>
        </p:txBody>
      </p:sp>
      <p:sp>
        <p:nvSpPr>
          <p:cNvPr id="45" name="Google Shape;45;p29"/>
          <p:cNvSpPr txBox="1">
            <a:spLocks noGrp="1"/>
          </p:cNvSpPr>
          <p:nvPr>
            <p:ph type="body" idx="4"/>
          </p:nvPr>
        </p:nvSpPr>
        <p:spPr>
          <a:xfrm>
            <a:off x="5832247" y="2367064"/>
            <a:ext cx="4897708" cy="34815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94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29"/>
          <p:cNvSpPr txBox="1">
            <a:spLocks noGrp="1"/>
          </p:cNvSpPr>
          <p:nvPr>
            <p:ph type="dt" idx="10"/>
          </p:nvPr>
        </p:nvSpPr>
        <p:spPr>
          <a:xfrm>
            <a:off x="792033" y="6006163"/>
            <a:ext cx="2592110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9"/>
          <p:cNvSpPr txBox="1">
            <a:spLocks noGrp="1"/>
          </p:cNvSpPr>
          <p:nvPr>
            <p:ph type="ftr" idx="11"/>
          </p:nvPr>
        </p:nvSpPr>
        <p:spPr>
          <a:xfrm>
            <a:off x="3816162" y="6006163"/>
            <a:ext cx="388816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9"/>
          <p:cNvSpPr txBox="1">
            <a:spLocks noGrp="1"/>
          </p:cNvSpPr>
          <p:nvPr>
            <p:ph type="sldNum" idx="12"/>
          </p:nvPr>
        </p:nvSpPr>
        <p:spPr>
          <a:xfrm>
            <a:off x="8136345" y="6006163"/>
            <a:ext cx="2592110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mente Título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0"/>
          <p:cNvSpPr txBox="1">
            <a:spLocks noGrp="1"/>
          </p:cNvSpPr>
          <p:nvPr>
            <p:ph type="title"/>
          </p:nvPr>
        </p:nvSpPr>
        <p:spPr>
          <a:xfrm>
            <a:off x="792034" y="345010"/>
            <a:ext cx="9936421" cy="1252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30"/>
          <p:cNvSpPr txBox="1">
            <a:spLocks noGrp="1"/>
          </p:cNvSpPr>
          <p:nvPr>
            <p:ph type="dt" idx="10"/>
          </p:nvPr>
        </p:nvSpPr>
        <p:spPr>
          <a:xfrm>
            <a:off x="792033" y="6006163"/>
            <a:ext cx="2592110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0"/>
          <p:cNvSpPr txBox="1">
            <a:spLocks noGrp="1"/>
          </p:cNvSpPr>
          <p:nvPr>
            <p:ph type="ftr" idx="11"/>
          </p:nvPr>
        </p:nvSpPr>
        <p:spPr>
          <a:xfrm>
            <a:off x="3816162" y="6006163"/>
            <a:ext cx="388816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0"/>
          <p:cNvSpPr txBox="1">
            <a:spLocks noGrp="1"/>
          </p:cNvSpPr>
          <p:nvPr>
            <p:ph type="sldNum" idx="12"/>
          </p:nvPr>
        </p:nvSpPr>
        <p:spPr>
          <a:xfrm>
            <a:off x="8136345" y="6006163"/>
            <a:ext cx="2592110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 Branco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1"/>
          <p:cNvSpPr txBox="1">
            <a:spLocks noGrp="1"/>
          </p:cNvSpPr>
          <p:nvPr>
            <p:ph type="dt" idx="10"/>
          </p:nvPr>
        </p:nvSpPr>
        <p:spPr>
          <a:xfrm>
            <a:off x="792033" y="6006163"/>
            <a:ext cx="2592110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1"/>
          <p:cNvSpPr txBox="1">
            <a:spLocks noGrp="1"/>
          </p:cNvSpPr>
          <p:nvPr>
            <p:ph type="ftr" idx="11"/>
          </p:nvPr>
        </p:nvSpPr>
        <p:spPr>
          <a:xfrm>
            <a:off x="3816162" y="6006163"/>
            <a:ext cx="388816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31"/>
          <p:cNvSpPr txBox="1">
            <a:spLocks noGrp="1"/>
          </p:cNvSpPr>
          <p:nvPr>
            <p:ph type="sldNum" idx="12"/>
          </p:nvPr>
        </p:nvSpPr>
        <p:spPr>
          <a:xfrm>
            <a:off x="8136345" y="6006163"/>
            <a:ext cx="2592110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údo com Legenda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>
            <a:spLocks noGrp="1"/>
          </p:cNvSpPr>
          <p:nvPr>
            <p:ph type="title"/>
          </p:nvPr>
        </p:nvSpPr>
        <p:spPr>
          <a:xfrm>
            <a:off x="793535" y="432012"/>
            <a:ext cx="3715657" cy="15120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24"/>
              <a:buFont typeface="Calibri"/>
              <a:buNone/>
              <a:defRPr sz="302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2"/>
          <p:cNvSpPr txBox="1">
            <a:spLocks noGrp="1"/>
          </p:cNvSpPr>
          <p:nvPr>
            <p:ph type="body" idx="1"/>
          </p:nvPr>
        </p:nvSpPr>
        <p:spPr>
          <a:xfrm>
            <a:off x="4897708" y="933026"/>
            <a:ext cx="5832247" cy="4605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20624" algn="l">
              <a:lnSpc>
                <a:spcPct val="90000"/>
              </a:lnSpc>
              <a:spcBef>
                <a:spcPts val="945"/>
              </a:spcBef>
              <a:spcAft>
                <a:spcPts val="0"/>
              </a:spcAft>
              <a:buClr>
                <a:schemeClr val="dk1"/>
              </a:buClr>
              <a:buSzPts val="3024"/>
              <a:buChar char="•"/>
              <a:defRPr sz="3024"/>
            </a:lvl1pPr>
            <a:lvl2pPr marL="914400" lvl="1" indent="-396621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2646"/>
              <a:buChar char="•"/>
              <a:defRPr sz="2646"/>
            </a:lvl2pPr>
            <a:lvl3pPr marL="1371600" lvl="2" indent="-372618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2268"/>
              <a:buChar char="•"/>
              <a:defRPr sz="2268"/>
            </a:lvl3pPr>
            <a:lvl4pPr marL="1828800" lvl="3" indent="-348615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90"/>
              <a:buChar char="•"/>
              <a:defRPr sz="1890"/>
            </a:lvl4pPr>
            <a:lvl5pPr marL="2286000" lvl="4" indent="-348615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90"/>
              <a:buChar char="•"/>
              <a:defRPr sz="1890"/>
            </a:lvl5pPr>
            <a:lvl6pPr marL="2743200" lvl="5" indent="-348615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90"/>
              <a:buChar char="•"/>
              <a:defRPr sz="1890"/>
            </a:lvl6pPr>
            <a:lvl7pPr marL="3200400" lvl="6" indent="-348615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90"/>
              <a:buChar char="•"/>
              <a:defRPr sz="1890"/>
            </a:lvl7pPr>
            <a:lvl8pPr marL="3657600" lvl="7" indent="-348615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90"/>
              <a:buChar char="•"/>
              <a:defRPr sz="1890"/>
            </a:lvl8pPr>
            <a:lvl9pPr marL="4114800" lvl="8" indent="-348615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90"/>
              <a:buChar char="•"/>
              <a:defRPr sz="1890"/>
            </a:lvl9pPr>
          </a:lstStyle>
          <a:p>
            <a:endParaRPr/>
          </a:p>
        </p:txBody>
      </p:sp>
      <p:sp>
        <p:nvSpPr>
          <p:cNvPr id="61" name="Google Shape;61;p32"/>
          <p:cNvSpPr txBox="1">
            <a:spLocks noGrp="1"/>
          </p:cNvSpPr>
          <p:nvPr>
            <p:ph type="body" idx="2"/>
          </p:nvPr>
        </p:nvSpPr>
        <p:spPr>
          <a:xfrm>
            <a:off x="793535" y="1944052"/>
            <a:ext cx="3715657" cy="3601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945"/>
              </a:spcBef>
              <a:spcAft>
                <a:spcPts val="0"/>
              </a:spcAft>
              <a:buClr>
                <a:schemeClr val="dk1"/>
              </a:buClr>
              <a:buSzPts val="1512"/>
              <a:buNone/>
              <a:defRPr sz="1512"/>
            </a:lvl1pPr>
            <a:lvl2pPr marL="914400" lvl="1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323"/>
              <a:buNone/>
              <a:defRPr sz="1323"/>
            </a:lvl2pPr>
            <a:lvl3pPr marL="1371600" lvl="2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134"/>
              <a:buNone/>
              <a:defRPr sz="1134"/>
            </a:lvl3pPr>
            <a:lvl4pPr marL="1828800" lvl="3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945"/>
              <a:buNone/>
              <a:defRPr sz="945"/>
            </a:lvl4pPr>
            <a:lvl5pPr marL="2286000" lvl="4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945"/>
              <a:buNone/>
              <a:defRPr sz="945"/>
            </a:lvl5pPr>
            <a:lvl6pPr marL="2743200" lvl="5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945"/>
              <a:buNone/>
              <a:defRPr sz="945"/>
            </a:lvl6pPr>
            <a:lvl7pPr marL="3200400" lvl="6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945"/>
              <a:buNone/>
              <a:defRPr sz="945"/>
            </a:lvl7pPr>
            <a:lvl8pPr marL="3657600" lvl="7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945"/>
              <a:buNone/>
              <a:defRPr sz="945"/>
            </a:lvl8pPr>
            <a:lvl9pPr marL="4114800" lvl="8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945"/>
              <a:buNone/>
              <a:defRPr sz="945"/>
            </a:lvl9pPr>
          </a:lstStyle>
          <a:p>
            <a:endParaRPr/>
          </a:p>
        </p:txBody>
      </p:sp>
      <p:sp>
        <p:nvSpPr>
          <p:cNvPr id="62" name="Google Shape;62;p32"/>
          <p:cNvSpPr txBox="1">
            <a:spLocks noGrp="1"/>
          </p:cNvSpPr>
          <p:nvPr>
            <p:ph type="dt" idx="10"/>
          </p:nvPr>
        </p:nvSpPr>
        <p:spPr>
          <a:xfrm>
            <a:off x="792033" y="6006163"/>
            <a:ext cx="2592110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2"/>
          <p:cNvSpPr txBox="1">
            <a:spLocks noGrp="1"/>
          </p:cNvSpPr>
          <p:nvPr>
            <p:ph type="ftr" idx="11"/>
          </p:nvPr>
        </p:nvSpPr>
        <p:spPr>
          <a:xfrm>
            <a:off x="3816162" y="6006163"/>
            <a:ext cx="388816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32"/>
          <p:cNvSpPr txBox="1">
            <a:spLocks noGrp="1"/>
          </p:cNvSpPr>
          <p:nvPr>
            <p:ph type="sldNum" idx="12"/>
          </p:nvPr>
        </p:nvSpPr>
        <p:spPr>
          <a:xfrm>
            <a:off x="8136345" y="6006163"/>
            <a:ext cx="2592110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m com Legenda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3"/>
          <p:cNvSpPr txBox="1">
            <a:spLocks noGrp="1"/>
          </p:cNvSpPr>
          <p:nvPr>
            <p:ph type="title"/>
          </p:nvPr>
        </p:nvSpPr>
        <p:spPr>
          <a:xfrm>
            <a:off x="793535" y="432012"/>
            <a:ext cx="3715657" cy="15120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24"/>
              <a:buFont typeface="Calibri"/>
              <a:buNone/>
              <a:defRPr sz="302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3"/>
          <p:cNvSpPr>
            <a:spLocks noGrp="1"/>
          </p:cNvSpPr>
          <p:nvPr>
            <p:ph type="pic" idx="2"/>
          </p:nvPr>
        </p:nvSpPr>
        <p:spPr>
          <a:xfrm>
            <a:off x="4897708" y="933026"/>
            <a:ext cx="5832247" cy="4605124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33"/>
          <p:cNvSpPr txBox="1">
            <a:spLocks noGrp="1"/>
          </p:cNvSpPr>
          <p:nvPr>
            <p:ph type="body" idx="1"/>
          </p:nvPr>
        </p:nvSpPr>
        <p:spPr>
          <a:xfrm>
            <a:off x="793535" y="1944052"/>
            <a:ext cx="3715657" cy="3601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945"/>
              </a:spcBef>
              <a:spcAft>
                <a:spcPts val="0"/>
              </a:spcAft>
              <a:buClr>
                <a:schemeClr val="dk1"/>
              </a:buClr>
              <a:buSzPts val="1512"/>
              <a:buNone/>
              <a:defRPr sz="1512"/>
            </a:lvl1pPr>
            <a:lvl2pPr marL="914400" lvl="1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323"/>
              <a:buNone/>
              <a:defRPr sz="1323"/>
            </a:lvl2pPr>
            <a:lvl3pPr marL="1371600" lvl="2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134"/>
              <a:buNone/>
              <a:defRPr sz="1134"/>
            </a:lvl3pPr>
            <a:lvl4pPr marL="1828800" lvl="3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945"/>
              <a:buNone/>
              <a:defRPr sz="945"/>
            </a:lvl4pPr>
            <a:lvl5pPr marL="2286000" lvl="4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945"/>
              <a:buNone/>
              <a:defRPr sz="945"/>
            </a:lvl5pPr>
            <a:lvl6pPr marL="2743200" lvl="5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945"/>
              <a:buNone/>
              <a:defRPr sz="945"/>
            </a:lvl6pPr>
            <a:lvl7pPr marL="3200400" lvl="6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945"/>
              <a:buNone/>
              <a:defRPr sz="945"/>
            </a:lvl7pPr>
            <a:lvl8pPr marL="3657600" lvl="7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945"/>
              <a:buNone/>
              <a:defRPr sz="945"/>
            </a:lvl8pPr>
            <a:lvl9pPr marL="4114800" lvl="8" indent="-2286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945"/>
              <a:buNone/>
              <a:defRPr sz="945"/>
            </a:lvl9pPr>
          </a:lstStyle>
          <a:p>
            <a:endParaRPr/>
          </a:p>
        </p:txBody>
      </p:sp>
      <p:sp>
        <p:nvSpPr>
          <p:cNvPr id="69" name="Google Shape;69;p33"/>
          <p:cNvSpPr txBox="1">
            <a:spLocks noGrp="1"/>
          </p:cNvSpPr>
          <p:nvPr>
            <p:ph type="dt" idx="10"/>
          </p:nvPr>
        </p:nvSpPr>
        <p:spPr>
          <a:xfrm>
            <a:off x="792033" y="6006163"/>
            <a:ext cx="2592110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3"/>
          <p:cNvSpPr txBox="1">
            <a:spLocks noGrp="1"/>
          </p:cNvSpPr>
          <p:nvPr>
            <p:ph type="ftr" idx="11"/>
          </p:nvPr>
        </p:nvSpPr>
        <p:spPr>
          <a:xfrm>
            <a:off x="3816162" y="6006163"/>
            <a:ext cx="388816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3"/>
          <p:cNvSpPr txBox="1">
            <a:spLocks noGrp="1"/>
          </p:cNvSpPr>
          <p:nvPr>
            <p:ph type="sldNum" idx="12"/>
          </p:nvPr>
        </p:nvSpPr>
        <p:spPr>
          <a:xfrm>
            <a:off x="8136345" y="6006163"/>
            <a:ext cx="2592110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Texto Vertical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4"/>
          <p:cNvSpPr txBox="1">
            <a:spLocks noGrp="1"/>
          </p:cNvSpPr>
          <p:nvPr>
            <p:ph type="title"/>
          </p:nvPr>
        </p:nvSpPr>
        <p:spPr>
          <a:xfrm>
            <a:off x="792034" y="345010"/>
            <a:ext cx="9936421" cy="1252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4"/>
          <p:cNvSpPr txBox="1">
            <a:spLocks noGrp="1"/>
          </p:cNvSpPr>
          <p:nvPr>
            <p:ph type="body" idx="1"/>
          </p:nvPr>
        </p:nvSpPr>
        <p:spPr>
          <a:xfrm rot="5400000">
            <a:off x="3704438" y="-1187358"/>
            <a:ext cx="4111612" cy="99364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94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34"/>
          <p:cNvSpPr txBox="1">
            <a:spLocks noGrp="1"/>
          </p:cNvSpPr>
          <p:nvPr>
            <p:ph type="dt" idx="10"/>
          </p:nvPr>
        </p:nvSpPr>
        <p:spPr>
          <a:xfrm>
            <a:off x="792033" y="6006163"/>
            <a:ext cx="2592110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4"/>
          <p:cNvSpPr txBox="1">
            <a:spLocks noGrp="1"/>
          </p:cNvSpPr>
          <p:nvPr>
            <p:ph type="ftr" idx="11"/>
          </p:nvPr>
        </p:nvSpPr>
        <p:spPr>
          <a:xfrm>
            <a:off x="3816162" y="6006163"/>
            <a:ext cx="388816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4"/>
          <p:cNvSpPr txBox="1">
            <a:spLocks noGrp="1"/>
          </p:cNvSpPr>
          <p:nvPr>
            <p:ph type="sldNum" idx="12"/>
          </p:nvPr>
        </p:nvSpPr>
        <p:spPr>
          <a:xfrm>
            <a:off x="8136345" y="6006163"/>
            <a:ext cx="2592110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o e Título Vertical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5"/>
          <p:cNvSpPr txBox="1">
            <a:spLocks noGrp="1"/>
          </p:cNvSpPr>
          <p:nvPr>
            <p:ph type="title"/>
          </p:nvPr>
        </p:nvSpPr>
        <p:spPr>
          <a:xfrm rot="5400000">
            <a:off x="6740577" y="1848781"/>
            <a:ext cx="5491649" cy="2484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5"/>
          <p:cNvSpPr txBox="1">
            <a:spLocks noGrp="1"/>
          </p:cNvSpPr>
          <p:nvPr>
            <p:ph type="body" idx="1"/>
          </p:nvPr>
        </p:nvSpPr>
        <p:spPr>
          <a:xfrm rot="5400000">
            <a:off x="1700364" y="-563322"/>
            <a:ext cx="5491649" cy="7308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94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5"/>
          <p:cNvSpPr txBox="1">
            <a:spLocks noGrp="1"/>
          </p:cNvSpPr>
          <p:nvPr>
            <p:ph type="dt" idx="10"/>
          </p:nvPr>
        </p:nvSpPr>
        <p:spPr>
          <a:xfrm>
            <a:off x="792033" y="6006163"/>
            <a:ext cx="2592110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5"/>
          <p:cNvSpPr txBox="1">
            <a:spLocks noGrp="1"/>
          </p:cNvSpPr>
          <p:nvPr>
            <p:ph type="ftr" idx="11"/>
          </p:nvPr>
        </p:nvSpPr>
        <p:spPr>
          <a:xfrm>
            <a:off x="3816162" y="6006163"/>
            <a:ext cx="388816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5"/>
          <p:cNvSpPr txBox="1">
            <a:spLocks noGrp="1"/>
          </p:cNvSpPr>
          <p:nvPr>
            <p:ph type="sldNum" idx="12"/>
          </p:nvPr>
        </p:nvSpPr>
        <p:spPr>
          <a:xfrm>
            <a:off x="8136345" y="6006163"/>
            <a:ext cx="2592110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>
            <a:spLocks noGrp="1"/>
          </p:cNvSpPr>
          <p:nvPr>
            <p:ph type="title"/>
          </p:nvPr>
        </p:nvSpPr>
        <p:spPr>
          <a:xfrm>
            <a:off x="792034" y="345010"/>
            <a:ext cx="9936421" cy="1252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158"/>
              <a:buFont typeface="Calibri"/>
              <a:buNone/>
              <a:defRPr sz="41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4"/>
          <p:cNvSpPr txBox="1">
            <a:spLocks noGrp="1"/>
          </p:cNvSpPr>
          <p:nvPr>
            <p:ph type="body" idx="1"/>
          </p:nvPr>
        </p:nvSpPr>
        <p:spPr>
          <a:xfrm>
            <a:off x="792034" y="1725046"/>
            <a:ext cx="9936421" cy="4111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96621" algn="l" rtl="0">
              <a:lnSpc>
                <a:spcPct val="90000"/>
              </a:lnSpc>
              <a:spcBef>
                <a:spcPts val="945"/>
              </a:spcBef>
              <a:spcAft>
                <a:spcPts val="0"/>
              </a:spcAft>
              <a:buClr>
                <a:schemeClr val="dk1"/>
              </a:buClr>
              <a:buSzPts val="2646"/>
              <a:buFont typeface="Arial"/>
              <a:buChar char="•"/>
              <a:defRPr sz="2646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72618" algn="l" rtl="0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2268"/>
              <a:buFont typeface="Arial"/>
              <a:buChar char="•"/>
              <a:defRPr sz="226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8615" algn="l" rtl="0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890"/>
              <a:buFont typeface="Arial"/>
              <a:buChar char="•"/>
              <a:defRPr sz="189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36613" algn="l" rtl="0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701"/>
              <a:buFont typeface="Arial"/>
              <a:buChar char="•"/>
              <a:defRPr sz="170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36614" algn="l" rtl="0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701"/>
              <a:buFont typeface="Arial"/>
              <a:buChar char="•"/>
              <a:defRPr sz="170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36614" algn="l" rtl="0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701"/>
              <a:buFont typeface="Arial"/>
              <a:buChar char="•"/>
              <a:defRPr sz="170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36614" algn="l" rtl="0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701"/>
              <a:buFont typeface="Arial"/>
              <a:buChar char="•"/>
              <a:defRPr sz="170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36614" algn="l" rtl="0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701"/>
              <a:buFont typeface="Arial"/>
              <a:buChar char="•"/>
              <a:defRPr sz="170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36614" algn="l" rtl="0">
              <a:lnSpc>
                <a:spcPct val="90000"/>
              </a:lnSpc>
              <a:spcBef>
                <a:spcPts val="472"/>
              </a:spcBef>
              <a:spcAft>
                <a:spcPts val="0"/>
              </a:spcAft>
              <a:buClr>
                <a:schemeClr val="dk1"/>
              </a:buClr>
              <a:buSzPts val="1701"/>
              <a:buFont typeface="Arial"/>
              <a:buChar char="•"/>
              <a:defRPr sz="170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4"/>
          <p:cNvSpPr txBox="1">
            <a:spLocks noGrp="1"/>
          </p:cNvSpPr>
          <p:nvPr>
            <p:ph type="dt" idx="10"/>
          </p:nvPr>
        </p:nvSpPr>
        <p:spPr>
          <a:xfrm>
            <a:off x="792033" y="6006163"/>
            <a:ext cx="2592110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3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4"/>
          <p:cNvSpPr txBox="1">
            <a:spLocks noGrp="1"/>
          </p:cNvSpPr>
          <p:nvPr>
            <p:ph type="ftr" idx="11"/>
          </p:nvPr>
        </p:nvSpPr>
        <p:spPr>
          <a:xfrm>
            <a:off x="3816162" y="6006163"/>
            <a:ext cx="3888165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13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4"/>
          <p:cNvSpPr txBox="1">
            <a:spLocks noGrp="1"/>
          </p:cNvSpPr>
          <p:nvPr>
            <p:ph type="sldNum" idx="12"/>
          </p:nvPr>
        </p:nvSpPr>
        <p:spPr>
          <a:xfrm>
            <a:off x="8136345" y="6006163"/>
            <a:ext cx="2592110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13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13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13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13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13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13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13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13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13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45669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" descr="Logotipo, nome da empresa&#10;&#10;Descrição gerada automaticament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54437" y="228230"/>
            <a:ext cx="2667437" cy="683268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"/>
          <p:cNvSpPr txBox="1"/>
          <p:nvPr/>
        </p:nvSpPr>
        <p:spPr>
          <a:xfrm>
            <a:off x="356616" y="5440680"/>
            <a:ext cx="6949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 Black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WeComp · IFSP São Carlos</a:t>
            </a:r>
            <a:endParaRPr sz="3600" b="1" i="0" u="none" strike="noStrike" cap="none">
              <a:solidFill>
                <a:srgbClr val="FFFFFF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922253" y="2926080"/>
            <a:ext cx="5768437" cy="87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Montserrat Black"/>
              <a:buNone/>
            </a:pPr>
            <a:r>
              <a:rPr lang="en-US" sz="4400" b="1" i="0" u="none" strike="noStrike" cap="none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Testado por Quem?</a:t>
            </a:r>
            <a:endParaRPr sz="56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922334" y="3977639"/>
            <a:ext cx="6583680" cy="1234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Montserrat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Quando a IA escreve o código e também os testes</a:t>
            </a:r>
            <a:endParaRPr sz="56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C7D4E8"/>
              </a:buClr>
              <a:buSzPts val="1500"/>
              <a:buFont typeface="Montserrat"/>
              <a:buNone/>
            </a:pPr>
            <a:r>
              <a:rPr lang="en-US" sz="1500" b="0" i="0" u="none" strike="noStrike" cap="none">
                <a:solidFill>
                  <a:srgbClr val="C7D4E8"/>
                </a:solidFill>
                <a:latin typeface="Montserrat"/>
                <a:ea typeface="Montserrat"/>
                <a:cs typeface="Montserrat"/>
                <a:sym typeface="Montserrat"/>
              </a:rPr>
              <a:t>João Vitor de Caires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7" y="-1"/>
            <a:ext cx="11520311" cy="6480175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2"/>
          <p:cNvSpPr txBox="1">
            <a:spLocks noGrp="1"/>
          </p:cNvSpPr>
          <p:nvPr>
            <p:ph type="title"/>
          </p:nvPr>
        </p:nvSpPr>
        <p:spPr>
          <a:xfrm>
            <a:off x="1084133" y="962038"/>
            <a:ext cx="4199067" cy="1252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Montserrat Black"/>
              <a:buNone/>
            </a:pPr>
            <a:r>
              <a:rPr lang="en-US" sz="6600" b="1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Agenda</a:t>
            </a:r>
            <a:endParaRPr sz="6600" b="1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01" name="Google Shape;101;p2"/>
          <p:cNvSpPr txBox="1">
            <a:spLocks noGrp="1"/>
          </p:cNvSpPr>
          <p:nvPr>
            <p:ph type="body" idx="1"/>
          </p:nvPr>
        </p:nvSpPr>
        <p:spPr>
          <a:xfrm>
            <a:off x="792033" y="2214572"/>
            <a:ext cx="8725789" cy="38879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15900" lvl="0" indent="-215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</a:pPr>
            <a:r>
              <a:rPr lang="en-US" sz="16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Contextualizando: o básico sobre desenvolvimento de software com LLM’s</a:t>
            </a:r>
            <a:endParaRPr sz="1600" b="1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215900" lvl="0" indent="-2159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</a:pPr>
            <a:r>
              <a:rPr lang="en-US" sz="16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Qual era o processo de desenvolvimento de software no passado?</a:t>
            </a:r>
            <a:endParaRPr>
              <a:solidFill>
                <a:schemeClr val="lt1"/>
              </a:solidFill>
            </a:endParaRPr>
          </a:p>
          <a:p>
            <a:pPr marL="215900" lvl="0" indent="-2159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</a:pPr>
            <a:r>
              <a:rPr lang="en-US" sz="16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Os novos paradigmas</a:t>
            </a:r>
            <a:endParaRPr>
              <a:solidFill>
                <a:schemeClr val="lt1"/>
              </a:solidFill>
            </a:endParaRPr>
          </a:p>
          <a:p>
            <a:pPr marL="215900" lvl="0" indent="-2159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</a:pPr>
            <a:r>
              <a:rPr lang="en-US" sz="16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Como garantir qualidade com tantas automações?</a:t>
            </a:r>
            <a:endParaRPr>
              <a:solidFill>
                <a:schemeClr val="lt1"/>
              </a:solidFill>
            </a:endParaRPr>
          </a:p>
          <a:p>
            <a:pPr marL="215900" lvl="0" indent="-2159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</a:pPr>
            <a:r>
              <a:rPr lang="en-US" sz="16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A importância das métricas</a:t>
            </a:r>
            <a:endParaRPr sz="1600" b="1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215900" lvl="0" indent="-2159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ontserrat"/>
              <a:buChar char="•"/>
            </a:pPr>
            <a:r>
              <a:rPr lang="en-US" sz="16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Sugestões e Boas Práticas</a:t>
            </a:r>
            <a:endParaRPr sz="1600" b="1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2" name="Google Shape;102;p2"/>
          <p:cNvSpPr txBox="1">
            <a:spLocks noGrp="1"/>
          </p:cNvSpPr>
          <p:nvPr>
            <p:ph type="sldNum" idx="12"/>
          </p:nvPr>
        </p:nvSpPr>
        <p:spPr>
          <a:xfrm>
            <a:off x="8136345" y="6006163"/>
            <a:ext cx="2592110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pic>
        <p:nvPicPr>
          <p:cNvPr id="103" name="Google Shape;103;p2" descr="Logotipo, nome da empresa&#10;&#10;Descrição gerada automaticament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59693" y="214235"/>
            <a:ext cx="1337524" cy="3441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1520311" cy="6480175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3"/>
          <p:cNvSpPr txBox="1">
            <a:spLocks noGrp="1"/>
          </p:cNvSpPr>
          <p:nvPr>
            <p:ph type="sldNum" idx="12"/>
          </p:nvPr>
        </p:nvSpPr>
        <p:spPr>
          <a:xfrm>
            <a:off x="8136345" y="6006163"/>
            <a:ext cx="2592110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pic>
        <p:nvPicPr>
          <p:cNvPr id="111" name="Google Shape;111;p3" descr="Logotipo, nome da empresa&#10;&#10;Descrição gerada automaticament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59693" y="214235"/>
            <a:ext cx="1337524" cy="344158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3"/>
          <p:cNvSpPr txBox="1"/>
          <p:nvPr/>
        </p:nvSpPr>
        <p:spPr>
          <a:xfrm>
            <a:off x="1081275" y="2377440"/>
            <a:ext cx="877824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Montserrat Black"/>
              <a:buNone/>
            </a:pPr>
            <a:r>
              <a:rPr lang="en-US" sz="6600" b="1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Contextualizando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7"/>
          <p:cNvSpPr/>
          <p:nvPr/>
        </p:nvSpPr>
        <p:spPr>
          <a:xfrm>
            <a:off x="-6402" y="5850467"/>
            <a:ext cx="11520487" cy="6297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7"/>
          <p:cNvSpPr txBox="1">
            <a:spLocks noGrp="1"/>
          </p:cNvSpPr>
          <p:nvPr>
            <p:ph type="ctrTitle"/>
          </p:nvPr>
        </p:nvSpPr>
        <p:spPr>
          <a:xfrm>
            <a:off x="677388" y="819164"/>
            <a:ext cx="10152900" cy="56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00"/>
              <a:buFont typeface="Calibri"/>
              <a:buNone/>
            </a:pPr>
            <a:r>
              <a:rPr lang="en-US" sz="41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Agente, </a:t>
            </a:r>
            <a:r>
              <a:rPr lang="en-US" sz="4100" b="1">
                <a:solidFill>
                  <a:srgbClr val="000000"/>
                </a:solidFill>
              </a:rPr>
              <a:t>F</a:t>
            </a:r>
            <a:r>
              <a:rPr lang="en-US" sz="41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errament</a:t>
            </a:r>
            <a:r>
              <a:rPr lang="en-US" sz="4100" b="1">
                <a:solidFill>
                  <a:srgbClr val="000000"/>
                </a:solidFill>
              </a:rPr>
              <a:t>a &amp; </a:t>
            </a:r>
            <a:r>
              <a:rPr lang="en-US" sz="41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MCP</a:t>
            </a:r>
            <a:endParaRPr sz="5169"/>
          </a:p>
        </p:txBody>
      </p:sp>
      <p:sp>
        <p:nvSpPr>
          <p:cNvPr id="120" name="Google Shape;120;p7"/>
          <p:cNvSpPr txBox="1"/>
          <p:nvPr/>
        </p:nvSpPr>
        <p:spPr>
          <a:xfrm>
            <a:off x="719138" y="226587"/>
            <a:ext cx="1512317" cy="288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WeComp 2026</a:t>
            </a:r>
            <a:endParaRPr/>
          </a:p>
        </p:txBody>
      </p:sp>
      <p:sp>
        <p:nvSpPr>
          <p:cNvPr id="121" name="Google Shape;121;p7"/>
          <p:cNvSpPr/>
          <p:nvPr/>
        </p:nvSpPr>
        <p:spPr>
          <a:xfrm>
            <a:off x="0" y="287759"/>
            <a:ext cx="719138" cy="14401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2" name="Google Shape;122;p7"/>
          <p:cNvCxnSpPr/>
          <p:nvPr/>
        </p:nvCxnSpPr>
        <p:spPr>
          <a:xfrm>
            <a:off x="2375868" y="359768"/>
            <a:ext cx="3204195" cy="0"/>
          </a:xfrm>
          <a:prstGeom prst="straightConnector1">
            <a:avLst/>
          </a:prstGeom>
          <a:noFill/>
          <a:ln w="12700" cap="flat" cmpd="sng">
            <a:solidFill>
              <a:srgbClr val="002060"/>
            </a:solidFill>
            <a:prstDash val="dot"/>
            <a:miter lim="8000"/>
            <a:headEnd type="none" w="sm" len="sm"/>
            <a:tailEnd type="none" w="sm" len="sm"/>
          </a:ln>
        </p:spPr>
      </p:cxnSp>
      <p:sp>
        <p:nvSpPr>
          <p:cNvPr id="123" name="Google Shape;123;p7"/>
          <p:cNvSpPr/>
          <p:nvPr/>
        </p:nvSpPr>
        <p:spPr>
          <a:xfrm>
            <a:off x="10794947" y="289037"/>
            <a:ext cx="719138" cy="430491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7"/>
          <p:cNvSpPr txBox="1">
            <a:spLocks noGrp="1"/>
          </p:cNvSpPr>
          <p:nvPr>
            <p:ph type="sldNum" idx="12"/>
          </p:nvPr>
        </p:nvSpPr>
        <p:spPr>
          <a:xfrm>
            <a:off x="10827962" y="331280"/>
            <a:ext cx="496328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4</a:t>
            </a:fld>
            <a:endParaRPr sz="12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" name="Google Shape;125;p7"/>
          <p:cNvSpPr/>
          <p:nvPr/>
        </p:nvSpPr>
        <p:spPr>
          <a:xfrm>
            <a:off x="2340434" y="1481328"/>
            <a:ext cx="2088232" cy="14401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6" name="Google Shape;126;p7" descr="Logotipo, nome da empresa&#10;&#10;Descrição gerada automa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11416" y="5993243"/>
            <a:ext cx="1337524" cy="344158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7"/>
          <p:cNvSpPr/>
          <p:nvPr/>
        </p:nvSpPr>
        <p:spPr>
          <a:xfrm>
            <a:off x="502920" y="2057400"/>
            <a:ext cx="475488" cy="475488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28" name="Google Shape;128;p7"/>
          <p:cNvSpPr txBox="1"/>
          <p:nvPr/>
        </p:nvSpPr>
        <p:spPr>
          <a:xfrm>
            <a:off x="1188720" y="1965960"/>
            <a:ext cx="9784200" cy="79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Agente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Um modelo que decide qual ferramenta usar e em que ordem</a:t>
            </a:r>
            <a:r>
              <a:rPr lang="en-US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4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não apenas gerando texto, ag</a:t>
            </a:r>
            <a:r>
              <a:rPr lang="en-US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indo</a:t>
            </a:r>
            <a:r>
              <a:rPr lang="en-US" sz="14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em várias etapas</a:t>
            </a:r>
            <a:r>
              <a:rPr lang="en-US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e se retroalimentando com os retornos de todos os prompts. Customizável, Incremental e de grande valor.</a:t>
            </a:r>
            <a:endParaRPr/>
          </a:p>
        </p:txBody>
      </p:sp>
      <p:sp>
        <p:nvSpPr>
          <p:cNvPr id="129" name="Google Shape;129;p7"/>
          <p:cNvSpPr/>
          <p:nvPr/>
        </p:nvSpPr>
        <p:spPr>
          <a:xfrm>
            <a:off x="502920" y="3355848"/>
            <a:ext cx="475488" cy="475488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30" name="Google Shape;130;p7"/>
          <p:cNvSpPr txBox="1"/>
          <p:nvPr/>
        </p:nvSpPr>
        <p:spPr>
          <a:xfrm>
            <a:off x="1188720" y="3264408"/>
            <a:ext cx="9784200" cy="5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Ferramenta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Qualquer </a:t>
            </a:r>
            <a:r>
              <a:rPr lang="en-US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coisa que o agente </a:t>
            </a:r>
            <a:r>
              <a:rPr lang="en-US" sz="14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possa acionar: um terminal</a:t>
            </a:r>
            <a:r>
              <a:rPr lang="en-US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(CLI)</a:t>
            </a:r>
            <a:r>
              <a:rPr lang="en-US" sz="14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, um navegador, uma API</a:t>
            </a:r>
            <a:r>
              <a:rPr lang="en-US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4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um repositório</a:t>
            </a:r>
            <a:r>
              <a:rPr lang="en-US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, etc.</a:t>
            </a:r>
            <a:endParaRPr/>
          </a:p>
        </p:txBody>
      </p:sp>
      <p:sp>
        <p:nvSpPr>
          <p:cNvPr id="131" name="Google Shape;131;p7"/>
          <p:cNvSpPr/>
          <p:nvPr/>
        </p:nvSpPr>
        <p:spPr>
          <a:xfrm>
            <a:off x="502920" y="4654296"/>
            <a:ext cx="475488" cy="475488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32" name="Google Shape;132;p7"/>
          <p:cNvSpPr txBox="1"/>
          <p:nvPr/>
        </p:nvSpPr>
        <p:spPr>
          <a:xfrm>
            <a:off x="1188720" y="4562856"/>
            <a:ext cx="9784200" cy="54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MCP (Model Context Protoc</a:t>
            </a:r>
            <a:r>
              <a:rPr lang="en-US" sz="18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ol)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Um</a:t>
            </a:r>
            <a:r>
              <a:rPr lang="en-US" sz="14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protocolo que apresenta a ferramenta ao modelo de forma padronizada, sem depender de prompt</a:t>
            </a:r>
            <a:r>
              <a:rPr lang="en-US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do usuário em específico</a:t>
            </a:r>
            <a:r>
              <a:rPr lang="en-US" sz="14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1520311" cy="6480175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6"/>
          <p:cNvSpPr txBox="1">
            <a:spLocks noGrp="1"/>
          </p:cNvSpPr>
          <p:nvPr>
            <p:ph type="sldNum" idx="12"/>
          </p:nvPr>
        </p:nvSpPr>
        <p:spPr>
          <a:xfrm>
            <a:off x="8136345" y="6006163"/>
            <a:ext cx="2592110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pic>
        <p:nvPicPr>
          <p:cNvPr id="140" name="Google Shape;140;p6" descr="Logotipo, nome da empresa&#10;&#10;Descrição gerada automaticament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59693" y="214235"/>
            <a:ext cx="1337524" cy="344158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6"/>
          <p:cNvSpPr txBox="1"/>
          <p:nvPr/>
        </p:nvSpPr>
        <p:spPr>
          <a:xfrm>
            <a:off x="1081275" y="2377450"/>
            <a:ext cx="9334500" cy="201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Montserrat Black"/>
              <a:buNone/>
            </a:pPr>
            <a:r>
              <a:rPr lang="en-US" sz="6600" b="1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Como era “antes”?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"/>
          <p:cNvSpPr/>
          <p:nvPr/>
        </p:nvSpPr>
        <p:spPr>
          <a:xfrm>
            <a:off x="-6402" y="5850467"/>
            <a:ext cx="11520487" cy="6297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5"/>
          <p:cNvSpPr txBox="1">
            <a:spLocks noGrp="1"/>
          </p:cNvSpPr>
          <p:nvPr>
            <p:ph type="ctrTitle"/>
          </p:nvPr>
        </p:nvSpPr>
        <p:spPr>
          <a:xfrm>
            <a:off x="719932" y="512907"/>
            <a:ext cx="10152880" cy="864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00"/>
              <a:buFont typeface="Calibri"/>
              <a:buNone/>
            </a:pPr>
            <a:r>
              <a:rPr lang="en-US" sz="4600" b="1">
                <a:solidFill>
                  <a:srgbClr val="000000"/>
                </a:solidFill>
              </a:rPr>
              <a:t>Como se fazia software antes?</a:t>
            </a:r>
            <a:endParaRPr/>
          </a:p>
        </p:txBody>
      </p:sp>
      <p:sp>
        <p:nvSpPr>
          <p:cNvPr id="149" name="Google Shape;149;p5"/>
          <p:cNvSpPr txBox="1"/>
          <p:nvPr/>
        </p:nvSpPr>
        <p:spPr>
          <a:xfrm>
            <a:off x="719138" y="226587"/>
            <a:ext cx="1512317" cy="288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WeComp 2026</a:t>
            </a:r>
            <a:endParaRPr/>
          </a:p>
        </p:txBody>
      </p:sp>
      <p:sp>
        <p:nvSpPr>
          <p:cNvPr id="150" name="Google Shape;150;p5"/>
          <p:cNvSpPr/>
          <p:nvPr/>
        </p:nvSpPr>
        <p:spPr>
          <a:xfrm>
            <a:off x="0" y="287759"/>
            <a:ext cx="719138" cy="14401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1" name="Google Shape;151;p5"/>
          <p:cNvCxnSpPr/>
          <p:nvPr/>
        </p:nvCxnSpPr>
        <p:spPr>
          <a:xfrm>
            <a:off x="2375868" y="359768"/>
            <a:ext cx="3204195" cy="0"/>
          </a:xfrm>
          <a:prstGeom prst="straightConnector1">
            <a:avLst/>
          </a:prstGeom>
          <a:noFill/>
          <a:ln w="12700" cap="flat" cmpd="sng">
            <a:solidFill>
              <a:srgbClr val="002060"/>
            </a:solidFill>
            <a:prstDash val="dot"/>
            <a:miter lim="8000"/>
            <a:headEnd type="none" w="sm" len="sm"/>
            <a:tailEnd type="none" w="sm" len="sm"/>
          </a:ln>
        </p:spPr>
      </p:cxnSp>
      <p:sp>
        <p:nvSpPr>
          <p:cNvPr id="152" name="Google Shape;152;p5"/>
          <p:cNvSpPr/>
          <p:nvPr/>
        </p:nvSpPr>
        <p:spPr>
          <a:xfrm>
            <a:off x="10794947" y="289037"/>
            <a:ext cx="719138" cy="430491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5"/>
          <p:cNvSpPr txBox="1">
            <a:spLocks noGrp="1"/>
          </p:cNvSpPr>
          <p:nvPr>
            <p:ph type="sldNum" idx="12"/>
          </p:nvPr>
        </p:nvSpPr>
        <p:spPr>
          <a:xfrm>
            <a:off x="10827962" y="331280"/>
            <a:ext cx="496328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6</a:t>
            </a:fld>
            <a:endParaRPr sz="12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" name="Google Shape;154;p5"/>
          <p:cNvSpPr/>
          <p:nvPr/>
        </p:nvSpPr>
        <p:spPr>
          <a:xfrm>
            <a:off x="2340434" y="1481328"/>
            <a:ext cx="2088232" cy="14401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5" name="Google Shape;155;p5" descr="Logotipo, nome da empresa&#10;&#10;Descrição gerada automa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11416" y="5993243"/>
            <a:ext cx="1337524" cy="344158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5"/>
          <p:cNvSpPr/>
          <p:nvPr/>
        </p:nvSpPr>
        <p:spPr>
          <a:xfrm>
            <a:off x="520270" y="2747873"/>
            <a:ext cx="2377500" cy="1874400"/>
          </a:xfrm>
          <a:prstGeom prst="roundRect">
            <a:avLst>
              <a:gd name="adj" fmla="val 4000"/>
            </a:avLst>
          </a:prstGeom>
          <a:solidFill>
            <a:srgbClr val="F1F4F9"/>
          </a:solidFill>
          <a:ln>
            <a:noFill/>
          </a:ln>
        </p:spPr>
        <p:txBody>
          <a:bodyPr spcFirstLastPara="1" wrap="square" lIns="146300" tIns="109725" rIns="146300" bIns="10972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Requisito no Jira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1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Escrito para humanos</a:t>
            </a: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, por humanos.</a:t>
            </a:r>
            <a:endParaRPr/>
          </a:p>
        </p:txBody>
      </p:sp>
      <p:sp>
        <p:nvSpPr>
          <p:cNvPr id="157" name="Google Shape;157;p5"/>
          <p:cNvSpPr/>
          <p:nvPr/>
        </p:nvSpPr>
        <p:spPr>
          <a:xfrm>
            <a:off x="666574" y="2894177"/>
            <a:ext cx="310800" cy="31080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58" name="Google Shape;158;p5"/>
          <p:cNvSpPr txBox="1"/>
          <p:nvPr/>
        </p:nvSpPr>
        <p:spPr>
          <a:xfrm>
            <a:off x="2897710" y="3479393"/>
            <a:ext cx="347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i="0" u="none" strike="noStrike" cap="none">
                <a:solidFill>
                  <a:srgbClr val="5A6478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/>
          </a:p>
        </p:txBody>
      </p:sp>
      <p:sp>
        <p:nvSpPr>
          <p:cNvPr id="159" name="Google Shape;159;p5"/>
          <p:cNvSpPr/>
          <p:nvPr/>
        </p:nvSpPr>
        <p:spPr>
          <a:xfrm>
            <a:off x="3245182" y="2747873"/>
            <a:ext cx="2377500" cy="1874400"/>
          </a:xfrm>
          <a:prstGeom prst="roundRect">
            <a:avLst>
              <a:gd name="adj" fmla="val 4000"/>
            </a:avLst>
          </a:prstGeom>
          <a:solidFill>
            <a:srgbClr val="F1F4F9"/>
          </a:solidFill>
          <a:ln>
            <a:noFill/>
          </a:ln>
        </p:spPr>
        <p:txBody>
          <a:bodyPr spcFirstLastPara="1" wrap="square" lIns="146300" tIns="109725" rIns="146300" bIns="10972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Dev </a:t>
            </a:r>
            <a:r>
              <a:rPr lang="en-US" sz="15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Codifica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1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Após o código ser desenvolvido são realizados testes unitários e validações pré deploy, além de Code Reviews.</a:t>
            </a:r>
            <a:endParaRPr sz="1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3391486" y="2894177"/>
            <a:ext cx="310800" cy="31080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61" name="Google Shape;161;p5"/>
          <p:cNvSpPr txBox="1"/>
          <p:nvPr/>
        </p:nvSpPr>
        <p:spPr>
          <a:xfrm>
            <a:off x="5622622" y="3479393"/>
            <a:ext cx="347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i="0" u="none" strike="noStrike" cap="none">
                <a:solidFill>
                  <a:srgbClr val="5A6478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/>
          </a:p>
        </p:txBody>
      </p:sp>
      <p:sp>
        <p:nvSpPr>
          <p:cNvPr id="162" name="Google Shape;162;p5"/>
          <p:cNvSpPr/>
          <p:nvPr/>
        </p:nvSpPr>
        <p:spPr>
          <a:xfrm>
            <a:off x="5970094" y="2747873"/>
            <a:ext cx="2377500" cy="1874400"/>
          </a:xfrm>
          <a:prstGeom prst="roundRect">
            <a:avLst>
              <a:gd name="adj" fmla="val 4000"/>
            </a:avLst>
          </a:prstGeom>
          <a:solidFill>
            <a:srgbClr val="F1F4F9"/>
          </a:solidFill>
          <a:ln>
            <a:noFill/>
          </a:ln>
        </p:spPr>
        <p:txBody>
          <a:bodyPr spcFirstLastPara="1" wrap="square" lIns="146300" tIns="109725" rIns="146300" bIns="10972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QA Verifica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1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Compreende, escreve testes e automatiza o que for possível.</a:t>
            </a:r>
            <a:endParaRPr sz="1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6116398" y="2894177"/>
            <a:ext cx="310800" cy="31080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64" name="Google Shape;164;p5"/>
          <p:cNvSpPr txBox="1"/>
          <p:nvPr/>
        </p:nvSpPr>
        <p:spPr>
          <a:xfrm>
            <a:off x="8347533" y="3479393"/>
            <a:ext cx="347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i="0" u="none" strike="noStrike" cap="none">
                <a:solidFill>
                  <a:srgbClr val="5A6478"/>
                </a:solidFill>
                <a:latin typeface="Calibri"/>
                <a:ea typeface="Calibri"/>
                <a:cs typeface="Calibri"/>
                <a:sym typeface="Calibri"/>
              </a:rPr>
              <a:t>›</a:t>
            </a:r>
            <a:endParaRPr/>
          </a:p>
        </p:txBody>
      </p:sp>
      <p:sp>
        <p:nvSpPr>
          <p:cNvPr id="165" name="Google Shape;165;p5"/>
          <p:cNvSpPr/>
          <p:nvPr/>
        </p:nvSpPr>
        <p:spPr>
          <a:xfrm>
            <a:off x="8695006" y="2747873"/>
            <a:ext cx="2377500" cy="1874400"/>
          </a:xfrm>
          <a:prstGeom prst="roundRect">
            <a:avLst>
              <a:gd name="adj" fmla="val 4000"/>
            </a:avLst>
          </a:prstGeom>
          <a:solidFill>
            <a:srgbClr val="F1F4F9"/>
          </a:solidFill>
          <a:ln>
            <a:noFill/>
          </a:ln>
        </p:spPr>
        <p:txBody>
          <a:bodyPr spcFirstLastPara="1" wrap="square" lIns="146300" tIns="109725" rIns="146300" bIns="109725" anchor="t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Código </a:t>
            </a:r>
            <a:r>
              <a:rPr lang="en-US" sz="1500" b="1" dirty="0" err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Entregue</a:t>
            </a:r>
            <a:endParaRPr sz="1500" b="1" dirty="0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1200" dirty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Se </a:t>
            </a:r>
            <a:r>
              <a:rPr lang="en-US" sz="1200" dirty="0" err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todas</a:t>
            </a:r>
            <a:r>
              <a:rPr lang="en-US" sz="12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as </a:t>
            </a:r>
            <a:r>
              <a:rPr lang="en-US" sz="1200" dirty="0" err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validações</a:t>
            </a:r>
            <a:r>
              <a:rPr lang="en-US" sz="12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forem</a:t>
            </a:r>
            <a:r>
              <a:rPr lang="en-US" sz="12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executadas</a:t>
            </a:r>
            <a:r>
              <a:rPr lang="en-US" sz="12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com </a:t>
            </a:r>
            <a:r>
              <a:rPr lang="en-US" sz="1200" dirty="0" err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sucesso</a:t>
            </a:r>
            <a:r>
              <a:rPr lang="en-US" sz="12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200" dirty="0" err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código</a:t>
            </a:r>
            <a:r>
              <a:rPr lang="en-US" sz="12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avança</a:t>
            </a:r>
            <a:r>
              <a:rPr lang="en-US" sz="12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para </a:t>
            </a:r>
            <a:r>
              <a:rPr lang="en-US" sz="1200" dirty="0" err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Homologação</a:t>
            </a:r>
            <a:r>
              <a:rPr lang="en-US" sz="12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e </a:t>
            </a:r>
            <a:r>
              <a:rPr lang="en-US" sz="1200" dirty="0" err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Produção</a:t>
            </a:r>
            <a:r>
              <a:rPr lang="en-US" sz="12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sequencialmente</a:t>
            </a:r>
            <a:r>
              <a:rPr lang="en-US" sz="1200" dirty="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 dirty="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8841310" y="2894177"/>
            <a:ext cx="310800" cy="31080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g3fa31ab02f3_1_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1520312" cy="6480176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g3fa31ab02f3_1_8"/>
          <p:cNvSpPr txBox="1">
            <a:spLocks noGrp="1"/>
          </p:cNvSpPr>
          <p:nvPr>
            <p:ph type="sldNum" idx="12"/>
          </p:nvPr>
        </p:nvSpPr>
        <p:spPr>
          <a:xfrm>
            <a:off x="8136345" y="6006163"/>
            <a:ext cx="2592000" cy="3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pic>
        <p:nvPicPr>
          <p:cNvPr id="174" name="Google Shape;174;g3fa31ab02f3_1_8" descr="Logotipo, nome da empresa&#10;&#10;Descrição gerada automaticament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59693" y="214235"/>
            <a:ext cx="1337524" cy="344158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g3fa31ab02f3_1_8"/>
          <p:cNvSpPr txBox="1"/>
          <p:nvPr/>
        </p:nvSpPr>
        <p:spPr>
          <a:xfrm>
            <a:off x="1081275" y="2377440"/>
            <a:ext cx="8778300" cy="201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Montserrat Black"/>
              <a:buNone/>
            </a:pPr>
            <a:r>
              <a:rPr lang="en-US" sz="6600" b="1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Os novos paradigmas</a:t>
            </a:r>
            <a:endParaRPr sz="6600" b="1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Montserrat Black"/>
              <a:buNone/>
            </a:pPr>
            <a:endParaRPr sz="6600" b="1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fa31ab02f3_1_16"/>
          <p:cNvSpPr/>
          <p:nvPr/>
        </p:nvSpPr>
        <p:spPr>
          <a:xfrm>
            <a:off x="-6402" y="5850467"/>
            <a:ext cx="11520600" cy="6297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g3fa31ab02f3_1_16"/>
          <p:cNvSpPr txBox="1">
            <a:spLocks noGrp="1"/>
          </p:cNvSpPr>
          <p:nvPr>
            <p:ph type="ctrTitle"/>
          </p:nvPr>
        </p:nvSpPr>
        <p:spPr>
          <a:xfrm>
            <a:off x="719932" y="512907"/>
            <a:ext cx="10152900" cy="86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00"/>
              <a:buFont typeface="Calibri"/>
              <a:buNone/>
            </a:pPr>
            <a:r>
              <a:rPr lang="en-US" sz="4600" b="1">
                <a:solidFill>
                  <a:srgbClr val="000000"/>
                </a:solidFill>
              </a:rPr>
              <a:t>Exemplificando</a:t>
            </a:r>
            <a:endParaRPr/>
          </a:p>
        </p:txBody>
      </p:sp>
      <p:sp>
        <p:nvSpPr>
          <p:cNvPr id="183" name="Google Shape;183;g3fa31ab02f3_1_16"/>
          <p:cNvSpPr txBox="1"/>
          <p:nvPr/>
        </p:nvSpPr>
        <p:spPr>
          <a:xfrm>
            <a:off x="719138" y="226587"/>
            <a:ext cx="15123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WeComp 2026</a:t>
            </a:r>
            <a:endParaRPr/>
          </a:p>
        </p:txBody>
      </p:sp>
      <p:sp>
        <p:nvSpPr>
          <p:cNvPr id="184" name="Google Shape;184;g3fa31ab02f3_1_16"/>
          <p:cNvSpPr/>
          <p:nvPr/>
        </p:nvSpPr>
        <p:spPr>
          <a:xfrm>
            <a:off x="0" y="287759"/>
            <a:ext cx="719100" cy="144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5" name="Google Shape;185;g3fa31ab02f3_1_16"/>
          <p:cNvCxnSpPr/>
          <p:nvPr/>
        </p:nvCxnSpPr>
        <p:spPr>
          <a:xfrm>
            <a:off x="2375868" y="359768"/>
            <a:ext cx="3204300" cy="0"/>
          </a:xfrm>
          <a:prstGeom prst="straightConnector1">
            <a:avLst/>
          </a:prstGeom>
          <a:noFill/>
          <a:ln w="12700" cap="flat" cmpd="sng">
            <a:solidFill>
              <a:srgbClr val="002060"/>
            </a:solidFill>
            <a:prstDash val="dot"/>
            <a:miter lim="8000"/>
            <a:headEnd type="none" w="sm" len="sm"/>
            <a:tailEnd type="none" w="sm" len="sm"/>
          </a:ln>
        </p:spPr>
      </p:cxnSp>
      <p:sp>
        <p:nvSpPr>
          <p:cNvPr id="186" name="Google Shape;186;g3fa31ab02f3_1_16"/>
          <p:cNvSpPr/>
          <p:nvPr/>
        </p:nvSpPr>
        <p:spPr>
          <a:xfrm>
            <a:off x="10794947" y="289037"/>
            <a:ext cx="719100" cy="4305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g3fa31ab02f3_1_16"/>
          <p:cNvSpPr txBox="1">
            <a:spLocks noGrp="1"/>
          </p:cNvSpPr>
          <p:nvPr>
            <p:ph type="sldNum" idx="12"/>
          </p:nvPr>
        </p:nvSpPr>
        <p:spPr>
          <a:xfrm>
            <a:off x="10827962" y="331280"/>
            <a:ext cx="496200" cy="3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8</a:t>
            </a:fld>
            <a:endParaRPr sz="12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" name="Google Shape;188;g3fa31ab02f3_1_16"/>
          <p:cNvSpPr/>
          <p:nvPr/>
        </p:nvSpPr>
        <p:spPr>
          <a:xfrm>
            <a:off x="2340434" y="1481328"/>
            <a:ext cx="2088300" cy="144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9" name="Google Shape;189;g3fa31ab02f3_1_16" descr="Logotipo, nome da empresa&#10;&#10;Descrição gerada automa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11416" y="5993243"/>
            <a:ext cx="1337524" cy="344158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g3fa31ab02f3_1_16"/>
          <p:cNvSpPr/>
          <p:nvPr/>
        </p:nvSpPr>
        <p:spPr>
          <a:xfrm>
            <a:off x="489558" y="2293430"/>
            <a:ext cx="1298400" cy="187440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</p:spPr>
        <p:txBody>
          <a:bodyPr spcFirstLastPara="1" wrap="square" lIns="73150" tIns="109725" rIns="73150" bIns="1097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</a:t>
            </a: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ê</a:t>
            </a: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o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repositório</a:t>
            </a:r>
            <a:endParaRPr/>
          </a:p>
        </p:txBody>
      </p:sp>
      <p:sp>
        <p:nvSpPr>
          <p:cNvPr id="191" name="Google Shape;191;g3fa31ab02f3_1_16"/>
          <p:cNvSpPr txBox="1"/>
          <p:nvPr/>
        </p:nvSpPr>
        <p:spPr>
          <a:xfrm>
            <a:off x="489558" y="4259389"/>
            <a:ext cx="12984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AGENTE</a:t>
            </a:r>
            <a:endParaRPr/>
          </a:p>
        </p:txBody>
      </p:sp>
      <p:sp>
        <p:nvSpPr>
          <p:cNvPr id="192" name="Google Shape;192;g3fa31ab02f3_1_16"/>
          <p:cNvSpPr/>
          <p:nvPr/>
        </p:nvSpPr>
        <p:spPr>
          <a:xfrm>
            <a:off x="2030322" y="2293430"/>
            <a:ext cx="1298400" cy="187440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</p:spPr>
        <p:txBody>
          <a:bodyPr spcFirstLastPara="1" wrap="square" lIns="73150" tIns="109725" rIns="73150" bIns="1097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Lê</a:t>
            </a: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o requisito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 Jira</a:t>
            </a:r>
            <a:endParaRPr/>
          </a:p>
        </p:txBody>
      </p:sp>
      <p:sp>
        <p:nvSpPr>
          <p:cNvPr id="193" name="Google Shape;193;g3fa31ab02f3_1_16"/>
          <p:cNvSpPr txBox="1"/>
          <p:nvPr/>
        </p:nvSpPr>
        <p:spPr>
          <a:xfrm>
            <a:off x="2054382" y="4259389"/>
            <a:ext cx="12984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AGENTE </a:t>
            </a:r>
            <a:r>
              <a:rPr lang="en-US" sz="10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+ FERRAMENTA</a:t>
            </a:r>
            <a:endParaRPr/>
          </a:p>
        </p:txBody>
      </p:sp>
      <p:sp>
        <p:nvSpPr>
          <p:cNvPr id="194" name="Google Shape;194;g3fa31ab02f3_1_16"/>
          <p:cNvSpPr/>
          <p:nvPr/>
        </p:nvSpPr>
        <p:spPr>
          <a:xfrm>
            <a:off x="3571086" y="2293430"/>
            <a:ext cx="1298400" cy="187440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</p:spPr>
        <p:txBody>
          <a:bodyPr spcFirstLastPara="1" wrap="square" lIns="73150" tIns="109725" rIns="73150" bIns="1097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Gera e </a:t>
            </a: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executa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os testes</a:t>
            </a:r>
            <a:endParaRPr/>
          </a:p>
        </p:txBody>
      </p:sp>
      <p:sp>
        <p:nvSpPr>
          <p:cNvPr id="195" name="Google Shape;195;g3fa31ab02f3_1_16"/>
          <p:cNvSpPr txBox="1"/>
          <p:nvPr/>
        </p:nvSpPr>
        <p:spPr>
          <a:xfrm>
            <a:off x="3571086" y="4259389"/>
            <a:ext cx="1298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AGENTE + FERRAMENT</a:t>
            </a:r>
            <a:r>
              <a:rPr lang="en-US" sz="10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r>
              <a:rPr lang="en-US" sz="10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+ MCP</a:t>
            </a:r>
            <a:endParaRPr/>
          </a:p>
        </p:txBody>
      </p:sp>
      <p:sp>
        <p:nvSpPr>
          <p:cNvPr id="196" name="Google Shape;196;g3fa31ab02f3_1_16"/>
          <p:cNvSpPr/>
          <p:nvPr/>
        </p:nvSpPr>
        <p:spPr>
          <a:xfrm>
            <a:off x="5111850" y="2293430"/>
            <a:ext cx="1298400" cy="187440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</p:spPr>
        <p:txBody>
          <a:bodyPr spcFirstLastPara="1" wrap="square" lIns="73150" tIns="109725" rIns="73150" bIns="1097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Abr</a:t>
            </a: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 </a:t>
            </a: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Pull Request</a:t>
            </a:r>
            <a:endParaRPr/>
          </a:p>
        </p:txBody>
      </p:sp>
      <p:sp>
        <p:nvSpPr>
          <p:cNvPr id="197" name="Google Shape;197;g3fa31ab02f3_1_16"/>
          <p:cNvSpPr txBox="1"/>
          <p:nvPr/>
        </p:nvSpPr>
        <p:spPr>
          <a:xfrm>
            <a:off x="5111850" y="4259389"/>
            <a:ext cx="12984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AGENTE + </a:t>
            </a:r>
            <a:r>
              <a:rPr lang="en-US" sz="10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FERRAMENTA</a:t>
            </a:r>
            <a:endParaRPr/>
          </a:p>
        </p:txBody>
      </p:sp>
      <p:sp>
        <p:nvSpPr>
          <p:cNvPr id="198" name="Google Shape;198;g3fa31ab02f3_1_16"/>
          <p:cNvSpPr/>
          <p:nvPr/>
        </p:nvSpPr>
        <p:spPr>
          <a:xfrm>
            <a:off x="6652613" y="2293430"/>
            <a:ext cx="1298400" cy="1874400"/>
          </a:xfrm>
          <a:prstGeom prst="roundRect">
            <a:avLst>
              <a:gd name="adj" fmla="val 6000"/>
            </a:avLst>
          </a:prstGeom>
          <a:solidFill>
            <a:srgbClr val="5A6478"/>
          </a:solidFill>
          <a:ln>
            <a:noFill/>
          </a:ln>
        </p:spPr>
        <p:txBody>
          <a:bodyPr spcFirstLastPara="1" wrap="square" lIns="73150" tIns="109725" rIns="73150" bIns="1097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Segurança e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compliance</a:t>
            </a:r>
            <a:endParaRPr/>
          </a:p>
        </p:txBody>
      </p:sp>
      <p:sp>
        <p:nvSpPr>
          <p:cNvPr id="199" name="Google Shape;199;g3fa31ab02f3_1_16"/>
          <p:cNvSpPr txBox="1"/>
          <p:nvPr/>
        </p:nvSpPr>
        <p:spPr>
          <a:xfrm>
            <a:off x="6652613" y="4259389"/>
            <a:ext cx="12984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5A6478"/>
                </a:solidFill>
                <a:latin typeface="Calibri"/>
                <a:ea typeface="Calibri"/>
                <a:cs typeface="Calibri"/>
                <a:sym typeface="Calibri"/>
              </a:rPr>
              <a:t>SNYK</a:t>
            </a:r>
            <a:endParaRPr/>
          </a:p>
        </p:txBody>
      </p:sp>
      <p:sp>
        <p:nvSpPr>
          <p:cNvPr id="200" name="Google Shape;200;g3fa31ab02f3_1_16"/>
          <p:cNvSpPr/>
          <p:nvPr/>
        </p:nvSpPr>
        <p:spPr>
          <a:xfrm>
            <a:off x="8193378" y="2293430"/>
            <a:ext cx="1298400" cy="1874400"/>
          </a:xfrm>
          <a:prstGeom prst="roundRect">
            <a:avLst>
              <a:gd name="adj" fmla="val 6000"/>
            </a:avLst>
          </a:prstGeom>
          <a:solidFill>
            <a:srgbClr val="B06E12"/>
          </a:solidFill>
          <a:ln>
            <a:noFill/>
          </a:ln>
        </p:spPr>
        <p:txBody>
          <a:bodyPr spcFirstLastPara="1" wrap="square" lIns="73150" tIns="109725" rIns="73150" bIns="1097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Code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review</a:t>
            </a:r>
            <a:endParaRPr/>
          </a:p>
        </p:txBody>
      </p:sp>
      <p:sp>
        <p:nvSpPr>
          <p:cNvPr id="201" name="Google Shape;201;g3fa31ab02f3_1_16"/>
          <p:cNvSpPr txBox="1"/>
          <p:nvPr/>
        </p:nvSpPr>
        <p:spPr>
          <a:xfrm>
            <a:off x="8193378" y="4259389"/>
            <a:ext cx="12984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B06E12"/>
                </a:solidFill>
                <a:latin typeface="Calibri"/>
                <a:ea typeface="Calibri"/>
                <a:cs typeface="Calibri"/>
                <a:sym typeface="Calibri"/>
              </a:rPr>
              <a:t>HUMANO / </a:t>
            </a:r>
            <a:r>
              <a:rPr lang="en-US" sz="1000" b="1">
                <a:solidFill>
                  <a:srgbClr val="B06E12"/>
                </a:solidFill>
                <a:latin typeface="Calibri"/>
                <a:ea typeface="Calibri"/>
                <a:cs typeface="Calibri"/>
                <a:sym typeface="Calibri"/>
              </a:rPr>
              <a:t>AGENTE</a:t>
            </a:r>
            <a:endParaRPr/>
          </a:p>
        </p:txBody>
      </p:sp>
      <p:sp>
        <p:nvSpPr>
          <p:cNvPr id="202" name="Google Shape;202;g3fa31ab02f3_1_16"/>
          <p:cNvSpPr/>
          <p:nvPr/>
        </p:nvSpPr>
        <p:spPr>
          <a:xfrm>
            <a:off x="9734142" y="2293430"/>
            <a:ext cx="1298400" cy="1874400"/>
          </a:xfrm>
          <a:prstGeom prst="roundRect">
            <a:avLst>
              <a:gd name="adj" fmla="val 6000"/>
            </a:avLst>
          </a:prstGeom>
          <a:solidFill>
            <a:srgbClr val="B06E12"/>
          </a:solidFill>
          <a:ln>
            <a:noFill/>
          </a:ln>
        </p:spPr>
        <p:txBody>
          <a:bodyPr spcFirstLastPara="1" wrap="square" lIns="73150" tIns="109725" rIns="73150" bIns="1097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Merge</a:t>
            </a:r>
            <a:endParaRPr/>
          </a:p>
        </p:txBody>
      </p:sp>
      <p:sp>
        <p:nvSpPr>
          <p:cNvPr id="203" name="Google Shape;203;g3fa31ab02f3_1_16"/>
          <p:cNvSpPr txBox="1"/>
          <p:nvPr/>
        </p:nvSpPr>
        <p:spPr>
          <a:xfrm>
            <a:off x="9734142" y="4259389"/>
            <a:ext cx="12984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B06E12"/>
                </a:solidFill>
                <a:latin typeface="Calibri"/>
                <a:ea typeface="Calibri"/>
                <a:cs typeface="Calibri"/>
                <a:sym typeface="Calibri"/>
              </a:rPr>
              <a:t>HUMANO / AGENTE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8"/>
          <p:cNvSpPr/>
          <p:nvPr/>
        </p:nvSpPr>
        <p:spPr>
          <a:xfrm>
            <a:off x="-6402" y="5850467"/>
            <a:ext cx="11520487" cy="6297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8"/>
          <p:cNvSpPr txBox="1">
            <a:spLocks noGrp="1"/>
          </p:cNvSpPr>
          <p:nvPr>
            <p:ph type="ctrTitle"/>
          </p:nvPr>
        </p:nvSpPr>
        <p:spPr>
          <a:xfrm>
            <a:off x="719932" y="512907"/>
            <a:ext cx="10152880" cy="864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00"/>
              <a:buFont typeface="Calibri"/>
              <a:buNone/>
            </a:pPr>
            <a:r>
              <a:rPr lang="en-US" sz="4600" b="1">
                <a:solidFill>
                  <a:srgbClr val="000000"/>
                </a:solidFill>
              </a:rPr>
              <a:t>Exemplificando</a:t>
            </a:r>
            <a:endParaRPr/>
          </a:p>
        </p:txBody>
      </p:sp>
      <p:sp>
        <p:nvSpPr>
          <p:cNvPr id="211" name="Google Shape;211;p8"/>
          <p:cNvSpPr txBox="1"/>
          <p:nvPr/>
        </p:nvSpPr>
        <p:spPr>
          <a:xfrm>
            <a:off x="719138" y="226587"/>
            <a:ext cx="1512317" cy="288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WeComp 2026</a:t>
            </a:r>
            <a:endParaRPr/>
          </a:p>
        </p:txBody>
      </p:sp>
      <p:sp>
        <p:nvSpPr>
          <p:cNvPr id="212" name="Google Shape;212;p8"/>
          <p:cNvSpPr/>
          <p:nvPr/>
        </p:nvSpPr>
        <p:spPr>
          <a:xfrm>
            <a:off x="0" y="287759"/>
            <a:ext cx="719138" cy="14401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3" name="Google Shape;213;p8"/>
          <p:cNvCxnSpPr/>
          <p:nvPr/>
        </p:nvCxnSpPr>
        <p:spPr>
          <a:xfrm>
            <a:off x="2375868" y="359768"/>
            <a:ext cx="3204195" cy="0"/>
          </a:xfrm>
          <a:prstGeom prst="straightConnector1">
            <a:avLst/>
          </a:prstGeom>
          <a:noFill/>
          <a:ln w="12700" cap="flat" cmpd="sng">
            <a:solidFill>
              <a:srgbClr val="002060"/>
            </a:solidFill>
            <a:prstDash val="dot"/>
            <a:miter lim="8000"/>
            <a:headEnd type="none" w="sm" len="sm"/>
            <a:tailEnd type="none" w="sm" len="sm"/>
          </a:ln>
        </p:spPr>
      </p:cxnSp>
      <p:sp>
        <p:nvSpPr>
          <p:cNvPr id="214" name="Google Shape;214;p8"/>
          <p:cNvSpPr/>
          <p:nvPr/>
        </p:nvSpPr>
        <p:spPr>
          <a:xfrm>
            <a:off x="10794947" y="289037"/>
            <a:ext cx="719138" cy="430491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8"/>
          <p:cNvSpPr txBox="1">
            <a:spLocks noGrp="1"/>
          </p:cNvSpPr>
          <p:nvPr>
            <p:ph type="sldNum" idx="12"/>
          </p:nvPr>
        </p:nvSpPr>
        <p:spPr>
          <a:xfrm>
            <a:off x="10827962" y="331280"/>
            <a:ext cx="496328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9</a:t>
            </a:fld>
            <a:endParaRPr sz="12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6" name="Google Shape;216;p8"/>
          <p:cNvSpPr/>
          <p:nvPr/>
        </p:nvSpPr>
        <p:spPr>
          <a:xfrm>
            <a:off x="2340434" y="1481328"/>
            <a:ext cx="2088232" cy="14401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7" name="Google Shape;217;p8" descr="Logotipo, nome da empresa&#10;&#10;Descrição gerada automa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11416" y="5993243"/>
            <a:ext cx="1337524" cy="344158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8"/>
          <p:cNvSpPr/>
          <p:nvPr/>
        </p:nvSpPr>
        <p:spPr>
          <a:xfrm>
            <a:off x="502920" y="1920240"/>
            <a:ext cx="5029200" cy="1691640"/>
          </a:xfrm>
          <a:prstGeom prst="roundRect">
            <a:avLst>
              <a:gd name="adj" fmla="val 4000"/>
            </a:avLst>
          </a:prstGeom>
          <a:solidFill>
            <a:srgbClr val="F1F4F9"/>
          </a:solidFill>
          <a:ln>
            <a:noFill/>
          </a:ln>
        </p:spPr>
        <p:txBody>
          <a:bodyPr spcFirstLastPara="1" wrap="square" lIns="146300" tIns="109725" rIns="146300" bIns="10972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Claude Code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Lê o repositório, decide os passos e chama as outras peças.</a:t>
            </a:r>
            <a:endParaRPr/>
          </a:p>
        </p:txBody>
      </p:sp>
      <p:sp>
        <p:nvSpPr>
          <p:cNvPr id="219" name="Google Shape;219;p8"/>
          <p:cNvSpPr/>
          <p:nvPr/>
        </p:nvSpPr>
        <p:spPr>
          <a:xfrm>
            <a:off x="5760720" y="1920240"/>
            <a:ext cx="5029200" cy="1691640"/>
          </a:xfrm>
          <a:prstGeom prst="roundRect">
            <a:avLst>
              <a:gd name="adj" fmla="val 4000"/>
            </a:avLst>
          </a:prstGeom>
          <a:solidFill>
            <a:srgbClr val="F1F4F9"/>
          </a:solidFill>
          <a:ln>
            <a:noFill/>
          </a:ln>
        </p:spPr>
        <p:txBody>
          <a:bodyPr spcFirstLastPara="1" wrap="square" lIns="146300" tIns="109725" rIns="146300" bIns="10972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Playwright MCP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Abre o navegador, explora e roda os testes end-to-end.</a:t>
            </a:r>
            <a:endParaRPr/>
          </a:p>
        </p:txBody>
      </p:sp>
      <p:sp>
        <p:nvSpPr>
          <p:cNvPr id="220" name="Google Shape;220;p8"/>
          <p:cNvSpPr/>
          <p:nvPr/>
        </p:nvSpPr>
        <p:spPr>
          <a:xfrm>
            <a:off x="502920" y="3840480"/>
            <a:ext cx="5029200" cy="1691640"/>
          </a:xfrm>
          <a:prstGeom prst="roundRect">
            <a:avLst>
              <a:gd name="adj" fmla="val 4000"/>
            </a:avLst>
          </a:prstGeom>
          <a:solidFill>
            <a:srgbClr val="F1F4F9"/>
          </a:solidFill>
          <a:ln>
            <a:noFill/>
          </a:ln>
        </p:spPr>
        <p:txBody>
          <a:bodyPr spcFirstLastPara="1" wrap="square" lIns="146300" tIns="109725" rIns="146300" bIns="10972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Atlassian CLI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Gerencia o</a:t>
            </a:r>
            <a:r>
              <a:rPr lang="en-US" sz="13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requisito</a:t>
            </a:r>
            <a:r>
              <a:rPr lang="en-US" sz="13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, enumera o significado de pronto (DOD).</a:t>
            </a:r>
            <a:endParaRPr/>
          </a:p>
        </p:txBody>
      </p:sp>
      <p:sp>
        <p:nvSpPr>
          <p:cNvPr id="221" name="Google Shape;221;p8"/>
          <p:cNvSpPr/>
          <p:nvPr/>
        </p:nvSpPr>
        <p:spPr>
          <a:xfrm>
            <a:off x="5760720" y="3840480"/>
            <a:ext cx="5029200" cy="1691640"/>
          </a:xfrm>
          <a:prstGeom prst="roundRect">
            <a:avLst>
              <a:gd name="adj" fmla="val 4000"/>
            </a:avLst>
          </a:prstGeom>
          <a:solidFill>
            <a:srgbClr val="F1F4F9"/>
          </a:solidFill>
          <a:ln>
            <a:noFill/>
          </a:ln>
        </p:spPr>
        <p:txBody>
          <a:bodyPr spcFirstLastPara="1" wrap="square" lIns="146300" tIns="109725" rIns="146300" bIns="10972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GitHub CLI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Branch, commit e abertura do Pull Request.</a:t>
            </a:r>
            <a:endParaRPr/>
          </a:p>
        </p:txBody>
      </p:sp>
      <p:pic>
        <p:nvPicPr>
          <p:cNvPr id="222" name="Google Shape;222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32775" y="2720375"/>
            <a:ext cx="769500" cy="76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43276" y="2572425"/>
            <a:ext cx="917450" cy="917450"/>
          </a:xfrm>
          <a:prstGeom prst="rect">
            <a:avLst/>
          </a:prstGeom>
          <a:solidFill>
            <a:srgbClr val="F1F4F9"/>
          </a:solidFill>
          <a:ln>
            <a:noFill/>
          </a:ln>
        </p:spPr>
      </p:pic>
      <p:pic>
        <p:nvPicPr>
          <p:cNvPr id="224" name="Google Shape;224;p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610475" y="4584900"/>
            <a:ext cx="769500" cy="769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5" name="Google Shape;225;p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868274" y="4584875"/>
            <a:ext cx="769500" cy="76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fb7faf8a4f_0_212"/>
          <p:cNvSpPr/>
          <p:nvPr/>
        </p:nvSpPr>
        <p:spPr>
          <a:xfrm>
            <a:off x="-6402" y="5850467"/>
            <a:ext cx="11520600" cy="6297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g3fb7faf8a4f_0_212"/>
          <p:cNvSpPr txBox="1">
            <a:spLocks noGrp="1"/>
          </p:cNvSpPr>
          <p:nvPr>
            <p:ph type="ctrTitle"/>
          </p:nvPr>
        </p:nvSpPr>
        <p:spPr>
          <a:xfrm>
            <a:off x="719932" y="512907"/>
            <a:ext cx="10152900" cy="86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00"/>
              <a:buFont typeface="Calibri"/>
              <a:buNone/>
            </a:pPr>
            <a:r>
              <a:rPr lang="en-US" sz="4600" b="1">
                <a:solidFill>
                  <a:srgbClr val="000000"/>
                </a:solidFill>
              </a:rPr>
              <a:t>Alguns novos problemas</a:t>
            </a:r>
            <a:endParaRPr/>
          </a:p>
        </p:txBody>
      </p:sp>
      <p:sp>
        <p:nvSpPr>
          <p:cNvPr id="233" name="Google Shape;233;g3fb7faf8a4f_0_212"/>
          <p:cNvSpPr txBox="1"/>
          <p:nvPr/>
        </p:nvSpPr>
        <p:spPr>
          <a:xfrm>
            <a:off x="719138" y="226587"/>
            <a:ext cx="15123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WeComp 2026</a:t>
            </a:r>
            <a:endParaRPr/>
          </a:p>
        </p:txBody>
      </p:sp>
      <p:sp>
        <p:nvSpPr>
          <p:cNvPr id="234" name="Google Shape;234;g3fb7faf8a4f_0_212"/>
          <p:cNvSpPr/>
          <p:nvPr/>
        </p:nvSpPr>
        <p:spPr>
          <a:xfrm>
            <a:off x="0" y="287759"/>
            <a:ext cx="719100" cy="144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5" name="Google Shape;235;g3fb7faf8a4f_0_212"/>
          <p:cNvCxnSpPr/>
          <p:nvPr/>
        </p:nvCxnSpPr>
        <p:spPr>
          <a:xfrm>
            <a:off x="2375868" y="359768"/>
            <a:ext cx="3204300" cy="0"/>
          </a:xfrm>
          <a:prstGeom prst="straightConnector1">
            <a:avLst/>
          </a:prstGeom>
          <a:noFill/>
          <a:ln w="12700" cap="flat" cmpd="sng">
            <a:solidFill>
              <a:srgbClr val="002060"/>
            </a:solidFill>
            <a:prstDash val="dot"/>
            <a:miter lim="8000"/>
            <a:headEnd type="none" w="sm" len="sm"/>
            <a:tailEnd type="none" w="sm" len="sm"/>
          </a:ln>
        </p:spPr>
      </p:cxnSp>
      <p:sp>
        <p:nvSpPr>
          <p:cNvPr id="236" name="Google Shape;236;g3fb7faf8a4f_0_212"/>
          <p:cNvSpPr/>
          <p:nvPr/>
        </p:nvSpPr>
        <p:spPr>
          <a:xfrm>
            <a:off x="10794947" y="289037"/>
            <a:ext cx="719100" cy="4305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g3fb7faf8a4f_0_212"/>
          <p:cNvSpPr txBox="1">
            <a:spLocks noGrp="1"/>
          </p:cNvSpPr>
          <p:nvPr>
            <p:ph type="sldNum" idx="12"/>
          </p:nvPr>
        </p:nvSpPr>
        <p:spPr>
          <a:xfrm>
            <a:off x="10827962" y="331280"/>
            <a:ext cx="496200" cy="3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10</a:t>
            </a:fld>
            <a:endParaRPr sz="12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8" name="Google Shape;238;g3fb7faf8a4f_0_212"/>
          <p:cNvSpPr/>
          <p:nvPr/>
        </p:nvSpPr>
        <p:spPr>
          <a:xfrm>
            <a:off x="2340434" y="1481328"/>
            <a:ext cx="2088300" cy="144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9" name="Google Shape;239;g3fb7faf8a4f_0_212" descr="Logotipo, nome da empresa&#10;&#10;Descrição gerada automa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11416" y="5993243"/>
            <a:ext cx="1337524" cy="344158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g3fb7faf8a4f_0_212"/>
          <p:cNvSpPr/>
          <p:nvPr/>
        </p:nvSpPr>
        <p:spPr>
          <a:xfrm>
            <a:off x="263900" y="2485850"/>
            <a:ext cx="5520600" cy="2437500"/>
          </a:xfrm>
          <a:prstGeom prst="roundRect">
            <a:avLst>
              <a:gd name="adj" fmla="val 6299"/>
            </a:avLst>
          </a:prstGeom>
          <a:solidFill>
            <a:srgbClr val="F8FAFC"/>
          </a:solidFill>
          <a:ln w="985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4625" tIns="47300" rIns="94625" bIns="473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63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g3fb7faf8a4f_0_212"/>
          <p:cNvSpPr/>
          <p:nvPr/>
        </p:nvSpPr>
        <p:spPr>
          <a:xfrm>
            <a:off x="6008200" y="2485825"/>
            <a:ext cx="5286600" cy="2437500"/>
          </a:xfrm>
          <a:prstGeom prst="roundRect">
            <a:avLst>
              <a:gd name="adj" fmla="val 5818"/>
            </a:avLst>
          </a:prstGeom>
          <a:solidFill>
            <a:srgbClr val="F8FAFC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g3fb7faf8a4f_0_212"/>
          <p:cNvSpPr/>
          <p:nvPr/>
        </p:nvSpPr>
        <p:spPr>
          <a:xfrm>
            <a:off x="458911" y="2732303"/>
            <a:ext cx="4948800" cy="3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625" tIns="47300" rIns="94625" bIns="473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63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g3fb7faf8a4f_0_212"/>
          <p:cNvSpPr/>
          <p:nvPr/>
        </p:nvSpPr>
        <p:spPr>
          <a:xfrm>
            <a:off x="6143875" y="2666386"/>
            <a:ext cx="4781700" cy="3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g3fb7faf8a4f_0_212"/>
          <p:cNvSpPr/>
          <p:nvPr/>
        </p:nvSpPr>
        <p:spPr>
          <a:xfrm>
            <a:off x="458911" y="3077338"/>
            <a:ext cx="4948800" cy="19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txBody>
          <a:bodyPr spcFirstLastPara="1" wrap="square" lIns="94625" tIns="47300" rIns="94625" bIns="473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63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g3fb7faf8a4f_0_212"/>
          <p:cNvSpPr/>
          <p:nvPr/>
        </p:nvSpPr>
        <p:spPr>
          <a:xfrm>
            <a:off x="6143875" y="2999761"/>
            <a:ext cx="4781700" cy="192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6" name="Google Shape;246;g3fb7faf8a4f_0_21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8911" y="2747090"/>
            <a:ext cx="197163" cy="1971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g3fb7faf8a4f_0_21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143875" y="2680673"/>
            <a:ext cx="219075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g3fb7faf8a4f_0_21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42686" y="3230242"/>
            <a:ext cx="147872" cy="147872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" name="Google Shape;249;g3fb7faf8a4f_0_21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2686" y="3583490"/>
            <a:ext cx="147872" cy="147872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g3fb7faf8a4f_0_21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45175" y="4034545"/>
            <a:ext cx="142875" cy="142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1" name="Google Shape;251;g3fb7faf8a4f_0_212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42686" y="4480607"/>
            <a:ext cx="147872" cy="147872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g3fb7faf8a4f_0_212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143875" y="3237885"/>
            <a:ext cx="14287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g3fb7faf8a4f_0_212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143875" y="3571261"/>
            <a:ext cx="14287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g3fb7faf8a4f_0_212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143875" y="4028974"/>
            <a:ext cx="18097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5" name="Google Shape;255;g3fb7faf8a4f_0_212" descr="image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143875" y="4438036"/>
            <a:ext cx="1428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g3fb7faf8a4f_0_212"/>
          <p:cNvSpPr txBox="1"/>
          <p:nvPr/>
        </p:nvSpPr>
        <p:spPr>
          <a:xfrm>
            <a:off x="774372" y="2732303"/>
            <a:ext cx="2769000" cy="21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97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Infraestrutura e Modelos</a:t>
            </a:r>
            <a:endParaRPr sz="1449"/>
          </a:p>
        </p:txBody>
      </p:sp>
      <p:sp>
        <p:nvSpPr>
          <p:cNvPr id="257" name="Google Shape;257;g3fb7faf8a4f_0_212"/>
          <p:cNvSpPr txBox="1"/>
          <p:nvPr/>
        </p:nvSpPr>
        <p:spPr>
          <a:xfrm>
            <a:off x="6477250" y="2666386"/>
            <a:ext cx="26004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Processo e Governança</a:t>
            </a:r>
            <a:endParaRPr/>
          </a:p>
        </p:txBody>
      </p:sp>
      <p:sp>
        <p:nvSpPr>
          <p:cNvPr id="258" name="Google Shape;258;g3fb7faf8a4f_0_212"/>
          <p:cNvSpPr txBox="1"/>
          <p:nvPr/>
        </p:nvSpPr>
        <p:spPr>
          <a:xfrm>
            <a:off x="656082" y="3222842"/>
            <a:ext cx="5520600" cy="1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4" b="1" i="0" u="none" strike="noStrike" cap="non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Latência:</a:t>
            </a:r>
            <a:r>
              <a:rPr lang="en-US" sz="1164" b="0" i="0" u="none" strike="noStrike" cap="non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Dependência total de execução e máquinas remotas.</a:t>
            </a:r>
            <a:endParaRPr sz="1449"/>
          </a:p>
        </p:txBody>
      </p:sp>
      <p:sp>
        <p:nvSpPr>
          <p:cNvPr id="259" name="Google Shape;259;g3fb7faf8a4f_0_212"/>
          <p:cNvSpPr txBox="1"/>
          <p:nvPr/>
        </p:nvSpPr>
        <p:spPr>
          <a:xfrm>
            <a:off x="656082" y="3567878"/>
            <a:ext cx="5582100" cy="1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4" b="1" i="0" u="none" strike="noStrike" cap="non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Segurança:</a:t>
            </a:r>
            <a:r>
              <a:rPr lang="en-US" sz="1164" b="0" i="0" u="none" strike="noStrike" cap="non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Incerteza sobre quais dados estão sendo expostos.</a:t>
            </a:r>
            <a:endParaRPr sz="1449"/>
          </a:p>
        </p:txBody>
      </p:sp>
      <p:sp>
        <p:nvSpPr>
          <p:cNvPr id="260" name="Google Shape;260;g3fb7faf8a4f_0_212"/>
          <p:cNvSpPr txBox="1"/>
          <p:nvPr/>
        </p:nvSpPr>
        <p:spPr>
          <a:xfrm>
            <a:off x="633507" y="4016413"/>
            <a:ext cx="4781400" cy="1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4" b="1" i="0" u="none" strike="noStrike" cap="non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Custo de Tokens:</a:t>
            </a:r>
            <a:r>
              <a:rPr lang="en-US" sz="1164" b="0" i="0" u="none" strike="noStrike" cap="non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Riscos com limite de cotas e orçamentos de API.</a:t>
            </a:r>
            <a:endParaRPr sz="1449"/>
          </a:p>
        </p:txBody>
      </p:sp>
      <p:sp>
        <p:nvSpPr>
          <p:cNvPr id="261" name="Google Shape;261;g3fb7faf8a4f_0_212"/>
          <p:cNvSpPr txBox="1"/>
          <p:nvPr/>
        </p:nvSpPr>
        <p:spPr>
          <a:xfrm>
            <a:off x="656082" y="4464970"/>
            <a:ext cx="5286600" cy="1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4" b="1" i="0" u="none" strike="noStrike" cap="non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Inconsistência:</a:t>
            </a:r>
            <a:r>
              <a:rPr lang="en-US" sz="1164" b="0" i="0" u="none" strike="noStrike" cap="non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Respostas de LLMs não são determinísticas.</a:t>
            </a:r>
            <a:endParaRPr sz="1449"/>
          </a:p>
        </p:txBody>
      </p:sp>
      <p:sp>
        <p:nvSpPr>
          <p:cNvPr id="262" name="Google Shape;262;g3fb7faf8a4f_0_212"/>
          <p:cNvSpPr txBox="1"/>
          <p:nvPr/>
        </p:nvSpPr>
        <p:spPr>
          <a:xfrm>
            <a:off x="6401050" y="3209310"/>
            <a:ext cx="50007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Requisitos por IA:</a:t>
            </a:r>
            <a:r>
              <a:rPr lang="en-US" sz="1125" b="0" i="0" u="none" strike="noStrike" cap="non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Perda de contexto e sentido de negócio.</a:t>
            </a:r>
            <a:endParaRPr/>
          </a:p>
        </p:txBody>
      </p:sp>
      <p:sp>
        <p:nvSpPr>
          <p:cNvPr id="263" name="Google Shape;263;g3fb7faf8a4f_0_212"/>
          <p:cNvSpPr txBox="1"/>
          <p:nvPr/>
        </p:nvSpPr>
        <p:spPr>
          <a:xfrm>
            <a:off x="6401050" y="3542686"/>
            <a:ext cx="46197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Review por IA:</a:t>
            </a:r>
            <a:r>
              <a:rPr lang="en-US" sz="1125" b="0" i="0" u="none" strike="noStrike" cap="non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Aprovação automática de PR sem análise criteriosa.</a:t>
            </a:r>
            <a:endParaRPr/>
          </a:p>
        </p:txBody>
      </p:sp>
      <p:sp>
        <p:nvSpPr>
          <p:cNvPr id="264" name="Google Shape;264;g3fb7faf8a4f_0_212"/>
          <p:cNvSpPr txBox="1"/>
          <p:nvPr/>
        </p:nvSpPr>
        <p:spPr>
          <a:xfrm>
            <a:off x="6401050" y="3963334"/>
            <a:ext cx="53697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Agentes</a:t>
            </a:r>
            <a:r>
              <a:rPr lang="en-US" sz="1125" b="1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1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Enviesados</a:t>
            </a:r>
            <a:r>
              <a:rPr lang="en-US" sz="1125" b="1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125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Foco </a:t>
            </a:r>
            <a:r>
              <a:rPr lang="en-US" sz="1125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mecânico</a:t>
            </a:r>
            <a:r>
              <a:rPr lang="en-US" sz="1125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em</a:t>
            </a:r>
            <a:r>
              <a:rPr lang="en-US" sz="1125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abrir</a:t>
            </a:r>
            <a:r>
              <a:rPr lang="en-US" sz="1125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bugs e </a:t>
            </a:r>
            <a:r>
              <a:rPr lang="en-US" sz="1125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codificar</a:t>
            </a:r>
            <a:r>
              <a:rPr lang="en-US" sz="1125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sp>
        <p:nvSpPr>
          <p:cNvPr id="265" name="Google Shape;265;g3fb7faf8a4f_0_212"/>
          <p:cNvSpPr txBox="1"/>
          <p:nvPr/>
        </p:nvSpPr>
        <p:spPr>
          <a:xfrm>
            <a:off x="6401050" y="4383982"/>
            <a:ext cx="46197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Dificuldade</a:t>
            </a:r>
            <a:r>
              <a:rPr lang="en-US" sz="1125" b="1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de UAT:</a:t>
            </a:r>
            <a:r>
              <a:rPr lang="en-US" sz="1125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Regras</a:t>
            </a:r>
            <a:r>
              <a:rPr lang="en-US" sz="1125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escritas</a:t>
            </a:r>
            <a:r>
              <a:rPr lang="en-US" sz="1125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por</a:t>
            </a:r>
            <a:r>
              <a:rPr lang="en-US" sz="1125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robôs</a:t>
            </a:r>
            <a:r>
              <a:rPr lang="en-US" sz="1125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0" i="0" u="none" strike="noStrike" cap="none" dirty="0" err="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dificultam</a:t>
            </a:r>
            <a:r>
              <a:rPr lang="en-US" sz="1125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testes de CS.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"/>
          <p:cNvSpPr/>
          <p:nvPr/>
        </p:nvSpPr>
        <p:spPr>
          <a:xfrm>
            <a:off x="-6402" y="5850467"/>
            <a:ext cx="11520487" cy="6297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4"/>
          <p:cNvSpPr txBox="1">
            <a:spLocks noGrp="1"/>
          </p:cNvSpPr>
          <p:nvPr>
            <p:ph type="ctrTitle"/>
          </p:nvPr>
        </p:nvSpPr>
        <p:spPr>
          <a:xfrm>
            <a:off x="719932" y="512907"/>
            <a:ext cx="10152880" cy="864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00"/>
              <a:buFont typeface="Calibri"/>
              <a:buNone/>
            </a:pPr>
            <a:r>
              <a:rPr lang="en-US" sz="4600" b="1">
                <a:solidFill>
                  <a:srgbClr val="000000"/>
                </a:solidFill>
              </a:rPr>
              <a:t>A</a:t>
            </a:r>
            <a:r>
              <a:rPr lang="en-US" sz="46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ssimetria</a:t>
            </a:r>
            <a:endParaRPr/>
          </a:p>
        </p:txBody>
      </p:sp>
      <p:sp>
        <p:nvSpPr>
          <p:cNvPr id="273" name="Google Shape;273;p4"/>
          <p:cNvSpPr txBox="1"/>
          <p:nvPr/>
        </p:nvSpPr>
        <p:spPr>
          <a:xfrm>
            <a:off x="719138" y="226587"/>
            <a:ext cx="1512317" cy="288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WeComp 2026</a:t>
            </a:r>
            <a:endParaRPr/>
          </a:p>
        </p:txBody>
      </p:sp>
      <p:sp>
        <p:nvSpPr>
          <p:cNvPr id="274" name="Google Shape;274;p4"/>
          <p:cNvSpPr/>
          <p:nvPr/>
        </p:nvSpPr>
        <p:spPr>
          <a:xfrm>
            <a:off x="0" y="287759"/>
            <a:ext cx="719138" cy="14401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5" name="Google Shape;275;p4"/>
          <p:cNvCxnSpPr/>
          <p:nvPr/>
        </p:nvCxnSpPr>
        <p:spPr>
          <a:xfrm>
            <a:off x="2375868" y="359768"/>
            <a:ext cx="3204195" cy="0"/>
          </a:xfrm>
          <a:prstGeom prst="straightConnector1">
            <a:avLst/>
          </a:prstGeom>
          <a:noFill/>
          <a:ln w="12700" cap="flat" cmpd="sng">
            <a:solidFill>
              <a:srgbClr val="002060"/>
            </a:solidFill>
            <a:prstDash val="dot"/>
            <a:miter lim="8000"/>
            <a:headEnd type="none" w="sm" len="sm"/>
            <a:tailEnd type="none" w="sm" len="sm"/>
          </a:ln>
        </p:spPr>
      </p:cxnSp>
      <p:sp>
        <p:nvSpPr>
          <p:cNvPr id="276" name="Google Shape;276;p4"/>
          <p:cNvSpPr/>
          <p:nvPr/>
        </p:nvSpPr>
        <p:spPr>
          <a:xfrm>
            <a:off x="10794947" y="289037"/>
            <a:ext cx="719138" cy="430491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4"/>
          <p:cNvSpPr txBox="1">
            <a:spLocks noGrp="1"/>
          </p:cNvSpPr>
          <p:nvPr>
            <p:ph type="sldNum" idx="12"/>
          </p:nvPr>
        </p:nvSpPr>
        <p:spPr>
          <a:xfrm>
            <a:off x="10827962" y="331280"/>
            <a:ext cx="496328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11</a:t>
            </a:fld>
            <a:endParaRPr sz="12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8" name="Google Shape;278;p4"/>
          <p:cNvSpPr/>
          <p:nvPr/>
        </p:nvSpPr>
        <p:spPr>
          <a:xfrm>
            <a:off x="2340434" y="1481328"/>
            <a:ext cx="2088232" cy="14401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9" name="Google Shape;279;p4" descr="Logotipo, nome da empresa&#10;&#10;Descrição gerada automa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11416" y="5993243"/>
            <a:ext cx="1337524" cy="344158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"/>
          <p:cNvSpPr/>
          <p:nvPr/>
        </p:nvSpPr>
        <p:spPr>
          <a:xfrm>
            <a:off x="496100" y="2092925"/>
            <a:ext cx="5136900" cy="1411200"/>
          </a:xfrm>
          <a:prstGeom prst="roundRect">
            <a:avLst>
              <a:gd name="adj" fmla="val 4000"/>
            </a:avLst>
          </a:prstGeom>
          <a:solidFill>
            <a:srgbClr val="002060"/>
          </a:solidFill>
          <a:ln>
            <a:noFill/>
          </a:ln>
        </p:spPr>
        <p:txBody>
          <a:bodyPr spcFirstLastPara="1" wrap="square" lIns="146300" tIns="109725" rIns="146300" bIns="10972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u="none" strike="noStrike" cap="none">
                <a:solidFill>
                  <a:srgbClr val="D3DDEE"/>
                </a:solidFill>
                <a:latin typeface="Calibri"/>
                <a:ea typeface="Calibri"/>
                <a:cs typeface="Calibri"/>
                <a:sym typeface="Calibri"/>
              </a:rPr>
              <a:t>O QUE A IA ACELEROU</a:t>
            </a:r>
            <a:endParaRPr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D3DDEE"/>
                </a:solidFill>
                <a:latin typeface="Calibri"/>
                <a:ea typeface="Calibri"/>
                <a:cs typeface="Calibri"/>
                <a:sym typeface="Calibri"/>
              </a:rPr>
              <a:t>Ler o repositório, </a:t>
            </a:r>
            <a:r>
              <a:rPr lang="en-US" sz="1300">
                <a:solidFill>
                  <a:srgbClr val="D3DDEE"/>
                </a:solidFill>
                <a:latin typeface="Calibri"/>
                <a:ea typeface="Calibri"/>
                <a:cs typeface="Calibri"/>
                <a:sym typeface="Calibri"/>
              </a:rPr>
              <a:t>interpretar </a:t>
            </a:r>
            <a:r>
              <a:rPr lang="en-US" sz="1300" b="0" i="0" u="none" strike="noStrike" cap="none">
                <a:solidFill>
                  <a:srgbClr val="D3DDEE"/>
                </a:solidFill>
                <a:latin typeface="Calibri"/>
                <a:ea typeface="Calibri"/>
                <a:cs typeface="Calibri"/>
                <a:sym typeface="Calibri"/>
              </a:rPr>
              <a:t>o requisito, escrever o código, gerar os testes, abrir </a:t>
            </a:r>
            <a:r>
              <a:rPr lang="en-US" sz="1300">
                <a:solidFill>
                  <a:srgbClr val="D3DDEE"/>
                </a:solidFill>
                <a:latin typeface="Calibri"/>
                <a:ea typeface="Calibri"/>
                <a:cs typeface="Calibri"/>
                <a:sym typeface="Calibri"/>
              </a:rPr>
              <a:t>PR’s e analisar os resultados.</a:t>
            </a:r>
            <a:endParaRPr/>
          </a:p>
        </p:txBody>
      </p:sp>
      <p:sp>
        <p:nvSpPr>
          <p:cNvPr id="281" name="Google Shape;281;p4"/>
          <p:cNvSpPr/>
          <p:nvPr/>
        </p:nvSpPr>
        <p:spPr>
          <a:xfrm>
            <a:off x="5936775" y="2092925"/>
            <a:ext cx="5074800" cy="1374300"/>
          </a:xfrm>
          <a:prstGeom prst="roundRect">
            <a:avLst>
              <a:gd name="adj" fmla="val 4000"/>
            </a:avLst>
          </a:prstGeom>
          <a:solidFill>
            <a:srgbClr val="F1F4F9"/>
          </a:solidFill>
          <a:ln>
            <a:noFill/>
          </a:ln>
        </p:spPr>
        <p:txBody>
          <a:bodyPr spcFirstLastPara="1" wrap="square" lIns="146300" tIns="109725" rIns="146300" bIns="10972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u="none" strike="noStrike" cap="none">
                <a:solidFill>
                  <a:srgbClr val="666E7A"/>
                </a:solidFill>
                <a:latin typeface="Calibri"/>
                <a:ea typeface="Calibri"/>
                <a:cs typeface="Calibri"/>
                <a:sym typeface="Calibri"/>
              </a:rPr>
              <a:t>O QUE </a:t>
            </a:r>
            <a:r>
              <a:rPr lang="en-US" sz="950" b="1">
                <a:solidFill>
                  <a:srgbClr val="666E7A"/>
                </a:solidFill>
                <a:latin typeface="Calibri"/>
                <a:ea typeface="Calibri"/>
                <a:cs typeface="Calibri"/>
                <a:sym typeface="Calibri"/>
              </a:rPr>
              <a:t>CONTINUA MANUAL</a:t>
            </a:r>
            <a:endParaRPr sz="950" b="1" i="0" u="none" strike="noStrike" cap="none">
              <a:solidFill>
                <a:srgbClr val="666E7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50" b="1">
              <a:solidFill>
                <a:srgbClr val="666E7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50" b="1">
              <a:solidFill>
                <a:srgbClr val="666E7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Decidir o que precisa ser testado, definir o critério e julgar se o</a:t>
            </a:r>
            <a:r>
              <a:rPr lang="en-US" sz="13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retorno tem valor.</a:t>
            </a:r>
            <a:endParaRPr/>
          </a:p>
        </p:txBody>
      </p:sp>
      <p:sp>
        <p:nvSpPr>
          <p:cNvPr id="282" name="Google Shape;282;p4"/>
          <p:cNvSpPr txBox="1"/>
          <p:nvPr/>
        </p:nvSpPr>
        <p:spPr>
          <a:xfrm>
            <a:off x="441620" y="4098364"/>
            <a:ext cx="10515600" cy="103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O gargalo mudou de lugar.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666E7A"/>
                </a:solidFill>
                <a:latin typeface="Calibri"/>
                <a:ea typeface="Calibri"/>
                <a:cs typeface="Calibri"/>
                <a:sym typeface="Calibri"/>
              </a:rPr>
              <a:t>Com isso: COMO o Q.A. acompanha essa necessidade de entregar ainda mais testes com AINDA MAIS RISCOS de código derivado de IA?</a:t>
            </a:r>
            <a:endParaRPr sz="1500">
              <a:solidFill>
                <a:srgbClr val="666E7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endParaRPr sz="1500">
              <a:solidFill>
                <a:srgbClr val="666E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fba01affed_0_0"/>
          <p:cNvSpPr/>
          <p:nvPr/>
        </p:nvSpPr>
        <p:spPr>
          <a:xfrm>
            <a:off x="-6402" y="5850467"/>
            <a:ext cx="11520600" cy="6297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g3fba01affed_0_0"/>
          <p:cNvSpPr txBox="1"/>
          <p:nvPr/>
        </p:nvSpPr>
        <p:spPr>
          <a:xfrm>
            <a:off x="719138" y="226587"/>
            <a:ext cx="15123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WeComp 2026</a:t>
            </a:r>
            <a:endParaRPr/>
          </a:p>
        </p:txBody>
      </p:sp>
      <p:sp>
        <p:nvSpPr>
          <p:cNvPr id="290" name="Google Shape;290;g3fba01affed_0_0"/>
          <p:cNvSpPr/>
          <p:nvPr/>
        </p:nvSpPr>
        <p:spPr>
          <a:xfrm>
            <a:off x="0" y="287759"/>
            <a:ext cx="719100" cy="144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1" name="Google Shape;291;g3fba01affed_0_0"/>
          <p:cNvCxnSpPr/>
          <p:nvPr/>
        </p:nvCxnSpPr>
        <p:spPr>
          <a:xfrm>
            <a:off x="2375868" y="359768"/>
            <a:ext cx="3204300" cy="0"/>
          </a:xfrm>
          <a:prstGeom prst="straightConnector1">
            <a:avLst/>
          </a:prstGeom>
          <a:noFill/>
          <a:ln w="12700" cap="flat" cmpd="sng">
            <a:solidFill>
              <a:srgbClr val="002060"/>
            </a:solidFill>
            <a:prstDash val="dot"/>
            <a:miter lim="8000"/>
            <a:headEnd type="none" w="sm" len="sm"/>
            <a:tailEnd type="none" w="sm" len="sm"/>
          </a:ln>
        </p:spPr>
      </p:cxnSp>
      <p:sp>
        <p:nvSpPr>
          <p:cNvPr id="292" name="Google Shape;292;g3fba01affed_0_0"/>
          <p:cNvSpPr/>
          <p:nvPr/>
        </p:nvSpPr>
        <p:spPr>
          <a:xfrm>
            <a:off x="10794947" y="289037"/>
            <a:ext cx="719100" cy="4305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g3fba01affed_0_0"/>
          <p:cNvSpPr txBox="1">
            <a:spLocks noGrp="1"/>
          </p:cNvSpPr>
          <p:nvPr>
            <p:ph type="sldNum" idx="12"/>
          </p:nvPr>
        </p:nvSpPr>
        <p:spPr>
          <a:xfrm>
            <a:off x="10827962" y="331280"/>
            <a:ext cx="496200" cy="3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12</a:t>
            </a:fld>
            <a:endParaRPr sz="12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3fba01affed_0_0"/>
          <p:cNvSpPr/>
          <p:nvPr/>
        </p:nvSpPr>
        <p:spPr>
          <a:xfrm>
            <a:off x="2340434" y="1481328"/>
            <a:ext cx="2088300" cy="144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5" name="Google Shape;295;g3fba01affed_0_0" descr="Logotipo, nome da empresa&#10;&#10;Descrição gerada automa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11416" y="5993243"/>
            <a:ext cx="1337524" cy="344158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g3fba01affed_0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88712" y="641460"/>
            <a:ext cx="9309676" cy="50821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2" name="Google Shape;302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1520311" cy="6480175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9"/>
          <p:cNvSpPr txBox="1">
            <a:spLocks noGrp="1"/>
          </p:cNvSpPr>
          <p:nvPr>
            <p:ph type="sldNum" idx="12"/>
          </p:nvPr>
        </p:nvSpPr>
        <p:spPr>
          <a:xfrm>
            <a:off x="8136345" y="6006163"/>
            <a:ext cx="2592110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  <p:pic>
        <p:nvPicPr>
          <p:cNvPr id="304" name="Google Shape;304;p9" descr="Logotipo, nome da empresa&#10;&#10;Descrição gerada automaticament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59693" y="214235"/>
            <a:ext cx="1337524" cy="344158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9"/>
          <p:cNvSpPr txBox="1"/>
          <p:nvPr/>
        </p:nvSpPr>
        <p:spPr>
          <a:xfrm>
            <a:off x="1081275" y="2377440"/>
            <a:ext cx="877824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77500" lnSpcReduction="10000"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Montserrat Black"/>
              <a:buNone/>
            </a:pPr>
            <a:r>
              <a:rPr lang="en-US" sz="6600" b="1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Como garantir qualidade com tantas automações?</a:t>
            </a:r>
            <a:endParaRPr sz="6600" b="1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Montserrat Black"/>
              <a:buNone/>
            </a:pPr>
            <a:endParaRPr sz="6600" b="1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13"/>
          <p:cNvSpPr/>
          <p:nvPr/>
        </p:nvSpPr>
        <p:spPr>
          <a:xfrm>
            <a:off x="-6402" y="5850467"/>
            <a:ext cx="11520487" cy="6297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3"/>
          <p:cNvSpPr txBox="1">
            <a:spLocks noGrp="1"/>
          </p:cNvSpPr>
          <p:nvPr>
            <p:ph type="ctrTitle"/>
          </p:nvPr>
        </p:nvSpPr>
        <p:spPr>
          <a:xfrm>
            <a:off x="719932" y="512907"/>
            <a:ext cx="10152880" cy="864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00"/>
              <a:buFont typeface="Calibri"/>
              <a:buNone/>
            </a:pPr>
            <a:r>
              <a:rPr lang="en-US" sz="46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 teste como espelho</a:t>
            </a:r>
            <a:endParaRPr/>
          </a:p>
        </p:txBody>
      </p:sp>
      <p:sp>
        <p:nvSpPr>
          <p:cNvPr id="313" name="Google Shape;313;p13"/>
          <p:cNvSpPr txBox="1"/>
          <p:nvPr/>
        </p:nvSpPr>
        <p:spPr>
          <a:xfrm>
            <a:off x="719138" y="226587"/>
            <a:ext cx="1512317" cy="288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WeComp 2026</a:t>
            </a:r>
            <a:endParaRPr/>
          </a:p>
        </p:txBody>
      </p:sp>
      <p:sp>
        <p:nvSpPr>
          <p:cNvPr id="314" name="Google Shape;314;p13"/>
          <p:cNvSpPr/>
          <p:nvPr/>
        </p:nvSpPr>
        <p:spPr>
          <a:xfrm>
            <a:off x="0" y="287759"/>
            <a:ext cx="719138" cy="14401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5" name="Google Shape;315;p13"/>
          <p:cNvCxnSpPr/>
          <p:nvPr/>
        </p:nvCxnSpPr>
        <p:spPr>
          <a:xfrm>
            <a:off x="2375868" y="359768"/>
            <a:ext cx="3204195" cy="0"/>
          </a:xfrm>
          <a:prstGeom prst="straightConnector1">
            <a:avLst/>
          </a:prstGeom>
          <a:noFill/>
          <a:ln w="12700" cap="flat" cmpd="sng">
            <a:solidFill>
              <a:srgbClr val="002060"/>
            </a:solidFill>
            <a:prstDash val="dot"/>
            <a:miter lim="8000"/>
            <a:headEnd type="none" w="sm" len="sm"/>
            <a:tailEnd type="none" w="sm" len="sm"/>
          </a:ln>
        </p:spPr>
      </p:cxnSp>
      <p:sp>
        <p:nvSpPr>
          <p:cNvPr id="316" name="Google Shape;316;p13"/>
          <p:cNvSpPr/>
          <p:nvPr/>
        </p:nvSpPr>
        <p:spPr>
          <a:xfrm>
            <a:off x="10794947" y="289037"/>
            <a:ext cx="719138" cy="430491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3"/>
          <p:cNvSpPr txBox="1">
            <a:spLocks noGrp="1"/>
          </p:cNvSpPr>
          <p:nvPr>
            <p:ph type="sldNum" idx="12"/>
          </p:nvPr>
        </p:nvSpPr>
        <p:spPr>
          <a:xfrm>
            <a:off x="10827962" y="331280"/>
            <a:ext cx="496328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14</a:t>
            </a:fld>
            <a:endParaRPr sz="12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8" name="Google Shape;318;p13"/>
          <p:cNvSpPr/>
          <p:nvPr/>
        </p:nvSpPr>
        <p:spPr>
          <a:xfrm>
            <a:off x="2340434" y="1481328"/>
            <a:ext cx="2088232" cy="14401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9" name="Google Shape;319;p13" descr="Logotipo, nome da empresa&#10;&#10;Descrição gerada automa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11416" y="5993243"/>
            <a:ext cx="1337524" cy="344158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13"/>
          <p:cNvSpPr/>
          <p:nvPr/>
        </p:nvSpPr>
        <p:spPr>
          <a:xfrm>
            <a:off x="502920" y="1874519"/>
            <a:ext cx="5074920" cy="1828800"/>
          </a:xfrm>
          <a:prstGeom prst="roundRect">
            <a:avLst>
              <a:gd name="adj" fmla="val 4000"/>
            </a:avLst>
          </a:prstGeom>
          <a:solidFill>
            <a:srgbClr val="F1F4F9"/>
          </a:solidFill>
          <a:ln>
            <a:noFill/>
          </a:ln>
        </p:spPr>
        <p:txBody>
          <a:bodyPr spcFirstLastPara="1" wrap="square" lIns="146300" tIns="109725" rIns="146300" bIns="109725" anchor="t" anchorCtr="0">
            <a:noAutofit/>
          </a:bodyPr>
          <a:lstStyle/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O agente lê o requisito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 dessa leitura ele escreve o código que implementa e o teste que verifica.</a:t>
            </a:r>
            <a:endParaRPr/>
          </a:p>
        </p:txBody>
      </p:sp>
      <p:sp>
        <p:nvSpPr>
          <p:cNvPr id="321" name="Google Shape;321;p13"/>
          <p:cNvSpPr/>
          <p:nvPr/>
        </p:nvSpPr>
        <p:spPr>
          <a:xfrm>
            <a:off x="5943600" y="1874519"/>
            <a:ext cx="5074920" cy="1828800"/>
          </a:xfrm>
          <a:prstGeom prst="roundRect">
            <a:avLst>
              <a:gd name="adj" fmla="val 4000"/>
            </a:avLst>
          </a:prstGeom>
          <a:solidFill>
            <a:srgbClr val="002060"/>
          </a:solidFill>
          <a:ln>
            <a:noFill/>
          </a:ln>
        </p:spPr>
        <p:txBody>
          <a:bodyPr spcFirstLastPara="1" wrap="square" lIns="146300" tIns="109725" rIns="146300" bIns="109725" anchor="t" anchorCtr="0">
            <a:noAutofit/>
          </a:bodyPr>
          <a:lstStyle/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Os dois herdam o mesmo erro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D3DDEE"/>
                </a:solidFill>
                <a:latin typeface="Calibri"/>
                <a:ea typeface="Calibri"/>
                <a:cs typeface="Calibri"/>
                <a:sym typeface="Calibri"/>
              </a:rPr>
              <a:t>Se ele entendeu errado, o teste confirma o engano em vez de denunciá-lo.</a:t>
            </a:r>
            <a:endParaRPr/>
          </a:p>
        </p:txBody>
      </p:sp>
      <p:sp>
        <p:nvSpPr>
          <p:cNvPr id="322" name="Google Shape;322;p13"/>
          <p:cNvSpPr txBox="1"/>
          <p:nvPr/>
        </p:nvSpPr>
        <p:spPr>
          <a:xfrm>
            <a:off x="502920" y="4069080"/>
            <a:ext cx="10515600" cy="74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Teste verde não é prova de que o software funciona.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B06E12"/>
                </a:solidFill>
                <a:latin typeface="Calibri"/>
                <a:ea typeface="Calibri"/>
                <a:cs typeface="Calibri"/>
                <a:sym typeface="Calibri"/>
              </a:rPr>
              <a:t>É prova de que o código </a:t>
            </a:r>
            <a:r>
              <a:rPr lang="en-US" sz="1700">
                <a:solidFill>
                  <a:srgbClr val="B06E12"/>
                </a:solidFill>
                <a:latin typeface="Calibri"/>
                <a:ea typeface="Calibri"/>
                <a:cs typeface="Calibri"/>
                <a:sym typeface="Calibri"/>
              </a:rPr>
              <a:t>é coerente a quem o escreveu, não necessariamente ao requisito.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4"/>
          <p:cNvSpPr/>
          <p:nvPr/>
        </p:nvSpPr>
        <p:spPr>
          <a:xfrm>
            <a:off x="-6402" y="5850467"/>
            <a:ext cx="11520487" cy="6297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4"/>
          <p:cNvSpPr txBox="1">
            <a:spLocks noGrp="1"/>
          </p:cNvSpPr>
          <p:nvPr>
            <p:ph type="ctrTitle"/>
          </p:nvPr>
        </p:nvSpPr>
        <p:spPr>
          <a:xfrm>
            <a:off x="719932" y="512907"/>
            <a:ext cx="10152880" cy="864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00"/>
              <a:buFont typeface="Calibri"/>
              <a:buNone/>
            </a:pPr>
            <a:r>
              <a:rPr lang="en-US" sz="4600" b="1">
                <a:solidFill>
                  <a:srgbClr val="000000"/>
                </a:solidFill>
              </a:rPr>
              <a:t>Alguns riscos</a:t>
            </a:r>
            <a:endParaRPr/>
          </a:p>
        </p:txBody>
      </p:sp>
      <p:sp>
        <p:nvSpPr>
          <p:cNvPr id="330" name="Google Shape;330;p14"/>
          <p:cNvSpPr txBox="1"/>
          <p:nvPr/>
        </p:nvSpPr>
        <p:spPr>
          <a:xfrm>
            <a:off x="719138" y="226587"/>
            <a:ext cx="1512317" cy="288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WeComp 2026</a:t>
            </a:r>
            <a:endParaRPr/>
          </a:p>
        </p:txBody>
      </p:sp>
      <p:sp>
        <p:nvSpPr>
          <p:cNvPr id="331" name="Google Shape;331;p14"/>
          <p:cNvSpPr/>
          <p:nvPr/>
        </p:nvSpPr>
        <p:spPr>
          <a:xfrm>
            <a:off x="0" y="287759"/>
            <a:ext cx="719138" cy="14401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32" name="Google Shape;332;p14"/>
          <p:cNvCxnSpPr/>
          <p:nvPr/>
        </p:nvCxnSpPr>
        <p:spPr>
          <a:xfrm>
            <a:off x="2375868" y="359768"/>
            <a:ext cx="3204195" cy="0"/>
          </a:xfrm>
          <a:prstGeom prst="straightConnector1">
            <a:avLst/>
          </a:prstGeom>
          <a:noFill/>
          <a:ln w="12700" cap="flat" cmpd="sng">
            <a:solidFill>
              <a:srgbClr val="002060"/>
            </a:solidFill>
            <a:prstDash val="dot"/>
            <a:miter lim="8000"/>
            <a:headEnd type="none" w="sm" len="sm"/>
            <a:tailEnd type="none" w="sm" len="sm"/>
          </a:ln>
        </p:spPr>
      </p:cxnSp>
      <p:sp>
        <p:nvSpPr>
          <p:cNvPr id="333" name="Google Shape;333;p14"/>
          <p:cNvSpPr/>
          <p:nvPr/>
        </p:nvSpPr>
        <p:spPr>
          <a:xfrm>
            <a:off x="10794947" y="289037"/>
            <a:ext cx="719138" cy="430491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4"/>
          <p:cNvSpPr txBox="1">
            <a:spLocks noGrp="1"/>
          </p:cNvSpPr>
          <p:nvPr>
            <p:ph type="sldNum" idx="12"/>
          </p:nvPr>
        </p:nvSpPr>
        <p:spPr>
          <a:xfrm>
            <a:off x="10827962" y="331280"/>
            <a:ext cx="496328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15</a:t>
            </a:fld>
            <a:endParaRPr sz="12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5" name="Google Shape;335;p14"/>
          <p:cNvSpPr/>
          <p:nvPr/>
        </p:nvSpPr>
        <p:spPr>
          <a:xfrm>
            <a:off x="2340434" y="1481328"/>
            <a:ext cx="2088232" cy="14401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6" name="Google Shape;336;p14" descr="Logotipo, nome da empresa&#10;&#10;Descrição gerada automa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11416" y="5993243"/>
            <a:ext cx="1337524" cy="344158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14"/>
          <p:cNvSpPr/>
          <p:nvPr/>
        </p:nvSpPr>
        <p:spPr>
          <a:xfrm>
            <a:off x="502920" y="1920240"/>
            <a:ext cx="5029200" cy="1691640"/>
          </a:xfrm>
          <a:prstGeom prst="roundRect">
            <a:avLst>
              <a:gd name="adj" fmla="val 4000"/>
            </a:avLst>
          </a:prstGeom>
          <a:solidFill>
            <a:srgbClr val="F1F4F9"/>
          </a:solidFill>
          <a:ln>
            <a:noFill/>
          </a:ln>
        </p:spPr>
        <p:txBody>
          <a:bodyPr spcFirstLastPara="1" wrap="square" lIns="146300" tIns="109725" rIns="146300" bIns="10972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B06E12"/>
                </a:solidFill>
                <a:latin typeface="Calibri"/>
                <a:ea typeface="Calibri"/>
                <a:cs typeface="Calibri"/>
                <a:sym typeface="Calibri"/>
              </a:rPr>
              <a:t>Asserção fraca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Verifica que a mensagem "salvo com sucesso" apareceu. Não verifica que o dado foi gravado.</a:t>
            </a:r>
            <a:endParaRPr/>
          </a:p>
        </p:txBody>
      </p:sp>
      <p:sp>
        <p:nvSpPr>
          <p:cNvPr id="338" name="Google Shape;338;p14"/>
          <p:cNvSpPr/>
          <p:nvPr/>
        </p:nvSpPr>
        <p:spPr>
          <a:xfrm>
            <a:off x="5760720" y="1920240"/>
            <a:ext cx="5029200" cy="1691640"/>
          </a:xfrm>
          <a:prstGeom prst="roundRect">
            <a:avLst>
              <a:gd name="adj" fmla="val 4000"/>
            </a:avLst>
          </a:prstGeom>
          <a:solidFill>
            <a:srgbClr val="F1F4F9"/>
          </a:solidFill>
          <a:ln>
            <a:noFill/>
          </a:ln>
        </p:spPr>
        <p:txBody>
          <a:bodyPr spcFirstLastPara="1" wrap="square" lIns="146300" tIns="109725" rIns="146300" bIns="10972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B06E12"/>
                </a:solidFill>
                <a:latin typeface="Calibri"/>
                <a:ea typeface="Calibri"/>
                <a:cs typeface="Calibri"/>
                <a:sym typeface="Calibri"/>
              </a:rPr>
              <a:t>Teste espelho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Verifica </a:t>
            </a:r>
            <a:r>
              <a:rPr lang="en-US" sz="13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o que a implementação faz, não o que o requisito pedia. Passa sempre, prova nada.</a:t>
            </a:r>
            <a:endParaRPr/>
          </a:p>
        </p:txBody>
      </p:sp>
      <p:sp>
        <p:nvSpPr>
          <p:cNvPr id="339" name="Google Shape;339;p14"/>
          <p:cNvSpPr/>
          <p:nvPr/>
        </p:nvSpPr>
        <p:spPr>
          <a:xfrm>
            <a:off x="502920" y="3840480"/>
            <a:ext cx="5029200" cy="1691640"/>
          </a:xfrm>
          <a:prstGeom prst="roundRect">
            <a:avLst>
              <a:gd name="adj" fmla="val 4000"/>
            </a:avLst>
          </a:prstGeom>
          <a:solidFill>
            <a:srgbClr val="F1F4F9"/>
          </a:solidFill>
          <a:ln>
            <a:noFill/>
          </a:ln>
        </p:spPr>
        <p:txBody>
          <a:bodyPr spcFirstLastPara="1" wrap="square" lIns="146300" tIns="109725" rIns="146300" bIns="10972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B06E12"/>
                </a:solidFill>
                <a:latin typeface="Calibri"/>
                <a:ea typeface="Calibri"/>
                <a:cs typeface="Calibri"/>
                <a:sym typeface="Calibri"/>
              </a:rPr>
              <a:t>Cobertura sem risco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 porcentagem sobe, os caminhos perigosos continuam descobertos.</a:t>
            </a:r>
            <a:endParaRPr/>
          </a:p>
        </p:txBody>
      </p:sp>
      <p:sp>
        <p:nvSpPr>
          <p:cNvPr id="340" name="Google Shape;340;p14"/>
          <p:cNvSpPr/>
          <p:nvPr/>
        </p:nvSpPr>
        <p:spPr>
          <a:xfrm>
            <a:off x="5760720" y="3840480"/>
            <a:ext cx="5029200" cy="1691640"/>
          </a:xfrm>
          <a:prstGeom prst="roundRect">
            <a:avLst>
              <a:gd name="adj" fmla="val 4000"/>
            </a:avLst>
          </a:prstGeom>
          <a:solidFill>
            <a:srgbClr val="F1F4F9"/>
          </a:solidFill>
          <a:ln>
            <a:noFill/>
          </a:ln>
        </p:spPr>
        <p:txBody>
          <a:bodyPr spcFirstLastPara="1" wrap="square" lIns="146300" tIns="109725" rIns="146300" bIns="10972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B06E12"/>
                </a:solidFill>
                <a:latin typeface="Calibri"/>
                <a:ea typeface="Calibri"/>
                <a:cs typeface="Calibri"/>
                <a:sym typeface="Calibri"/>
              </a:rPr>
              <a:t>Verde permanente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O teste não falharia nem se a funcionalidade fosse removida.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15"/>
          <p:cNvSpPr/>
          <p:nvPr/>
        </p:nvSpPr>
        <p:spPr>
          <a:xfrm>
            <a:off x="-6402" y="5850467"/>
            <a:ext cx="11520487" cy="6297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5"/>
          <p:cNvSpPr txBox="1">
            <a:spLocks noGrp="1"/>
          </p:cNvSpPr>
          <p:nvPr>
            <p:ph type="ctrTitle"/>
          </p:nvPr>
        </p:nvSpPr>
        <p:spPr>
          <a:xfrm>
            <a:off x="719932" y="512907"/>
            <a:ext cx="10152880" cy="864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00"/>
              <a:buFont typeface="Calibri"/>
              <a:buNone/>
            </a:pPr>
            <a:r>
              <a:rPr lang="en-US" sz="4600" b="1">
                <a:solidFill>
                  <a:srgbClr val="000000"/>
                </a:solidFill>
              </a:rPr>
              <a:t>Alguns principios</a:t>
            </a:r>
            <a:endParaRPr/>
          </a:p>
        </p:txBody>
      </p:sp>
      <p:sp>
        <p:nvSpPr>
          <p:cNvPr id="348" name="Google Shape;348;p15"/>
          <p:cNvSpPr txBox="1"/>
          <p:nvPr/>
        </p:nvSpPr>
        <p:spPr>
          <a:xfrm>
            <a:off x="719138" y="226587"/>
            <a:ext cx="1512317" cy="288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WeComp 2026</a:t>
            </a:r>
            <a:endParaRPr/>
          </a:p>
        </p:txBody>
      </p:sp>
      <p:sp>
        <p:nvSpPr>
          <p:cNvPr id="349" name="Google Shape;349;p15"/>
          <p:cNvSpPr/>
          <p:nvPr/>
        </p:nvSpPr>
        <p:spPr>
          <a:xfrm>
            <a:off x="0" y="287759"/>
            <a:ext cx="719138" cy="14401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0" name="Google Shape;350;p15"/>
          <p:cNvCxnSpPr/>
          <p:nvPr/>
        </p:nvCxnSpPr>
        <p:spPr>
          <a:xfrm>
            <a:off x="2375868" y="359768"/>
            <a:ext cx="3204195" cy="0"/>
          </a:xfrm>
          <a:prstGeom prst="straightConnector1">
            <a:avLst/>
          </a:prstGeom>
          <a:noFill/>
          <a:ln w="12700" cap="flat" cmpd="sng">
            <a:solidFill>
              <a:srgbClr val="002060"/>
            </a:solidFill>
            <a:prstDash val="dot"/>
            <a:miter lim="8000"/>
            <a:headEnd type="none" w="sm" len="sm"/>
            <a:tailEnd type="none" w="sm" len="sm"/>
          </a:ln>
        </p:spPr>
      </p:cxnSp>
      <p:sp>
        <p:nvSpPr>
          <p:cNvPr id="351" name="Google Shape;351;p15"/>
          <p:cNvSpPr/>
          <p:nvPr/>
        </p:nvSpPr>
        <p:spPr>
          <a:xfrm>
            <a:off x="10794947" y="289037"/>
            <a:ext cx="719138" cy="430491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5"/>
          <p:cNvSpPr txBox="1">
            <a:spLocks noGrp="1"/>
          </p:cNvSpPr>
          <p:nvPr>
            <p:ph type="sldNum" idx="12"/>
          </p:nvPr>
        </p:nvSpPr>
        <p:spPr>
          <a:xfrm>
            <a:off x="10827962" y="331280"/>
            <a:ext cx="496328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16</a:t>
            </a:fld>
            <a:endParaRPr sz="12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3" name="Google Shape;353;p15"/>
          <p:cNvSpPr/>
          <p:nvPr/>
        </p:nvSpPr>
        <p:spPr>
          <a:xfrm>
            <a:off x="2340434" y="1481328"/>
            <a:ext cx="2088232" cy="14401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4" name="Google Shape;354;p15" descr="Logotipo, nome da empresa&#10;&#10;Descrição gerada automa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11416" y="5993243"/>
            <a:ext cx="1337524" cy="344158"/>
          </a:xfrm>
          <a:prstGeom prst="rect">
            <a:avLst/>
          </a:prstGeom>
          <a:noFill/>
          <a:ln>
            <a:noFill/>
          </a:ln>
        </p:spPr>
      </p:pic>
      <p:sp>
        <p:nvSpPr>
          <p:cNvPr id="355" name="Google Shape;355;p15"/>
          <p:cNvSpPr/>
          <p:nvPr/>
        </p:nvSpPr>
        <p:spPr>
          <a:xfrm>
            <a:off x="198225" y="2733060"/>
            <a:ext cx="3505200" cy="2009700"/>
          </a:xfrm>
          <a:prstGeom prst="roundRect">
            <a:avLst>
              <a:gd name="adj" fmla="val 7582"/>
            </a:avLst>
          </a:prstGeom>
          <a:solidFill>
            <a:srgbClr val="F8FAFC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5"/>
          <p:cNvSpPr/>
          <p:nvPr/>
        </p:nvSpPr>
        <p:spPr>
          <a:xfrm>
            <a:off x="3932025" y="2618760"/>
            <a:ext cx="3505200" cy="2238300"/>
          </a:xfrm>
          <a:prstGeom prst="roundRect">
            <a:avLst>
              <a:gd name="adj" fmla="val 6808"/>
            </a:avLst>
          </a:prstGeom>
          <a:solidFill>
            <a:srgbClr val="F8FAFC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5"/>
          <p:cNvSpPr/>
          <p:nvPr/>
        </p:nvSpPr>
        <p:spPr>
          <a:xfrm>
            <a:off x="7665825" y="2618760"/>
            <a:ext cx="3505200" cy="2238300"/>
          </a:xfrm>
          <a:prstGeom prst="roundRect">
            <a:avLst>
              <a:gd name="adj" fmla="val 6808"/>
            </a:avLst>
          </a:prstGeom>
          <a:solidFill>
            <a:srgbClr val="F8FAFC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5"/>
          <p:cNvSpPr/>
          <p:nvPr/>
        </p:nvSpPr>
        <p:spPr>
          <a:xfrm>
            <a:off x="512550" y="3047386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0F2F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5"/>
          <p:cNvSpPr/>
          <p:nvPr/>
        </p:nvSpPr>
        <p:spPr>
          <a:xfrm>
            <a:off x="4246350" y="2933086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0F2F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5"/>
          <p:cNvSpPr/>
          <p:nvPr/>
        </p:nvSpPr>
        <p:spPr>
          <a:xfrm>
            <a:off x="7980150" y="2933086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0F2F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1" name="Google Shape;361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7850" y="3133110"/>
            <a:ext cx="16192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2" name="Google Shape;362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741650" y="3018810"/>
            <a:ext cx="26670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3" name="Google Shape;363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475450" y="3018810"/>
            <a:ext cx="26670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364" name="Google Shape;364;p15"/>
          <p:cNvSpPr txBox="1"/>
          <p:nvPr/>
        </p:nvSpPr>
        <p:spPr>
          <a:xfrm>
            <a:off x="512550" y="3618886"/>
            <a:ext cx="3775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Requisito é o Mais Importante</a:t>
            </a:r>
            <a:endParaRPr/>
          </a:p>
        </p:txBody>
      </p:sp>
      <p:sp>
        <p:nvSpPr>
          <p:cNvPr id="365" name="Google Shape;365;p15"/>
          <p:cNvSpPr txBox="1"/>
          <p:nvPr/>
        </p:nvSpPr>
        <p:spPr>
          <a:xfrm>
            <a:off x="512550" y="3971311"/>
            <a:ext cx="2971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O teste nasce da especificação, não do código recém-escrito.</a:t>
            </a:r>
            <a:endParaRPr/>
          </a:p>
        </p:txBody>
      </p:sp>
      <p:sp>
        <p:nvSpPr>
          <p:cNvPr id="366" name="Google Shape;366;p15"/>
          <p:cNvSpPr txBox="1"/>
          <p:nvPr/>
        </p:nvSpPr>
        <p:spPr>
          <a:xfrm>
            <a:off x="4246350" y="3504586"/>
            <a:ext cx="3775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Validações Automáticas no PR</a:t>
            </a:r>
            <a:endParaRPr/>
          </a:p>
        </p:txBody>
      </p:sp>
      <p:sp>
        <p:nvSpPr>
          <p:cNvPr id="367" name="Google Shape;367;p15"/>
          <p:cNvSpPr txBox="1"/>
          <p:nvPr/>
        </p:nvSpPr>
        <p:spPr>
          <a:xfrm>
            <a:off x="4246350" y="3857011"/>
            <a:ext cx="2971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Segurança e compliance rodam sozinhos no Pull Request antes do merge.</a:t>
            </a:r>
            <a:endParaRPr/>
          </a:p>
        </p:txBody>
      </p:sp>
      <p:sp>
        <p:nvSpPr>
          <p:cNvPr id="368" name="Google Shape;368;p15"/>
          <p:cNvSpPr txBox="1"/>
          <p:nvPr/>
        </p:nvSpPr>
        <p:spPr>
          <a:xfrm>
            <a:off x="7980150" y="3504586"/>
            <a:ext cx="3775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Review Continua Humano</a:t>
            </a:r>
            <a:endParaRPr/>
          </a:p>
        </p:txBody>
      </p:sp>
      <p:sp>
        <p:nvSpPr>
          <p:cNvPr id="369" name="Google Shape;369;p15"/>
          <p:cNvSpPr txBox="1"/>
          <p:nvPr/>
        </p:nvSpPr>
        <p:spPr>
          <a:xfrm>
            <a:off x="7980150" y="3857011"/>
            <a:ext cx="2971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Quem aprova o PR assume o risco. Essa responsabilidade não foi automatizada.</a:t>
            </a:r>
            <a:endParaRPr/>
          </a:p>
        </p:txBody>
      </p:sp>
      <p:sp>
        <p:nvSpPr>
          <p:cNvPr id="370" name="Google Shape;370;p15"/>
          <p:cNvSpPr txBox="1"/>
          <p:nvPr/>
        </p:nvSpPr>
        <p:spPr>
          <a:xfrm>
            <a:off x="369675" y="3047386"/>
            <a:ext cx="6669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284C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01</a:t>
            </a:r>
            <a:endParaRPr/>
          </a:p>
        </p:txBody>
      </p:sp>
      <p:sp>
        <p:nvSpPr>
          <p:cNvPr id="371" name="Google Shape;371;p15"/>
          <p:cNvSpPr txBox="1"/>
          <p:nvPr/>
        </p:nvSpPr>
        <p:spPr>
          <a:xfrm>
            <a:off x="4103475" y="2933086"/>
            <a:ext cx="6669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284C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02</a:t>
            </a:r>
            <a:endParaRPr/>
          </a:p>
        </p:txBody>
      </p:sp>
      <p:sp>
        <p:nvSpPr>
          <p:cNvPr id="372" name="Google Shape;372;p15"/>
          <p:cNvSpPr txBox="1"/>
          <p:nvPr/>
        </p:nvSpPr>
        <p:spPr>
          <a:xfrm>
            <a:off x="7837275" y="2933086"/>
            <a:ext cx="6669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284C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16"/>
          <p:cNvSpPr/>
          <p:nvPr/>
        </p:nvSpPr>
        <p:spPr>
          <a:xfrm>
            <a:off x="-6402" y="5850467"/>
            <a:ext cx="11520487" cy="6297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6"/>
          <p:cNvSpPr txBox="1">
            <a:spLocks noGrp="1"/>
          </p:cNvSpPr>
          <p:nvPr>
            <p:ph type="ctrTitle"/>
          </p:nvPr>
        </p:nvSpPr>
        <p:spPr>
          <a:xfrm>
            <a:off x="719932" y="512907"/>
            <a:ext cx="10152880" cy="864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00"/>
              <a:buFont typeface="Calibri"/>
              <a:buNone/>
            </a:pPr>
            <a:r>
              <a:rPr lang="en-US" sz="46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Anatomia de um bom pedido</a:t>
            </a:r>
            <a:endParaRPr/>
          </a:p>
        </p:txBody>
      </p:sp>
      <p:sp>
        <p:nvSpPr>
          <p:cNvPr id="380" name="Google Shape;380;p16"/>
          <p:cNvSpPr txBox="1"/>
          <p:nvPr/>
        </p:nvSpPr>
        <p:spPr>
          <a:xfrm>
            <a:off x="719138" y="226587"/>
            <a:ext cx="1512317" cy="288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WeComp 2026</a:t>
            </a:r>
            <a:endParaRPr/>
          </a:p>
        </p:txBody>
      </p:sp>
      <p:sp>
        <p:nvSpPr>
          <p:cNvPr id="381" name="Google Shape;381;p16"/>
          <p:cNvSpPr/>
          <p:nvPr/>
        </p:nvSpPr>
        <p:spPr>
          <a:xfrm>
            <a:off x="0" y="287759"/>
            <a:ext cx="719138" cy="14401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82" name="Google Shape;382;p16"/>
          <p:cNvCxnSpPr/>
          <p:nvPr/>
        </p:nvCxnSpPr>
        <p:spPr>
          <a:xfrm>
            <a:off x="2375868" y="359768"/>
            <a:ext cx="3204195" cy="0"/>
          </a:xfrm>
          <a:prstGeom prst="straightConnector1">
            <a:avLst/>
          </a:prstGeom>
          <a:noFill/>
          <a:ln w="12700" cap="flat" cmpd="sng">
            <a:solidFill>
              <a:srgbClr val="002060"/>
            </a:solidFill>
            <a:prstDash val="dot"/>
            <a:miter lim="8000"/>
            <a:headEnd type="none" w="sm" len="sm"/>
            <a:tailEnd type="none" w="sm" len="sm"/>
          </a:ln>
        </p:spPr>
      </p:cxnSp>
      <p:sp>
        <p:nvSpPr>
          <p:cNvPr id="383" name="Google Shape;383;p16"/>
          <p:cNvSpPr/>
          <p:nvPr/>
        </p:nvSpPr>
        <p:spPr>
          <a:xfrm>
            <a:off x="10794947" y="289037"/>
            <a:ext cx="719138" cy="430491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6"/>
          <p:cNvSpPr txBox="1">
            <a:spLocks noGrp="1"/>
          </p:cNvSpPr>
          <p:nvPr>
            <p:ph type="sldNum" idx="12"/>
          </p:nvPr>
        </p:nvSpPr>
        <p:spPr>
          <a:xfrm>
            <a:off x="10827962" y="331280"/>
            <a:ext cx="496328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17</a:t>
            </a:fld>
            <a:endParaRPr sz="12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5" name="Google Shape;385;p16"/>
          <p:cNvSpPr/>
          <p:nvPr/>
        </p:nvSpPr>
        <p:spPr>
          <a:xfrm>
            <a:off x="2340434" y="1481328"/>
            <a:ext cx="2088232" cy="14401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86" name="Google Shape;386;p16" descr="Logotipo, nome da empresa&#10;&#10;Descrição gerada automa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11416" y="5993243"/>
            <a:ext cx="1337524" cy="344158"/>
          </a:xfrm>
          <a:prstGeom prst="rect">
            <a:avLst/>
          </a:prstGeom>
          <a:noFill/>
          <a:ln>
            <a:noFill/>
          </a:ln>
        </p:spPr>
      </p:pic>
      <p:sp>
        <p:nvSpPr>
          <p:cNvPr id="387" name="Google Shape;387;p16"/>
          <p:cNvSpPr/>
          <p:nvPr/>
        </p:nvSpPr>
        <p:spPr>
          <a:xfrm>
            <a:off x="502920" y="1865376"/>
            <a:ext cx="402336" cy="402336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388" name="Google Shape;388;p16"/>
          <p:cNvSpPr txBox="1"/>
          <p:nvPr/>
        </p:nvSpPr>
        <p:spPr>
          <a:xfrm>
            <a:off x="1097280" y="1828800"/>
            <a:ext cx="99212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Objetivo</a:t>
            </a:r>
            <a:endParaRPr/>
          </a:p>
          <a:p>
            <a:pPr marL="0" marR="0" lvl="0" indent="0" algn="l" rtl="0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O que você quer, em uma frase. Sem isso, o agente escolhe o escopo por você.</a:t>
            </a:r>
            <a:endParaRPr/>
          </a:p>
        </p:txBody>
      </p:sp>
      <p:sp>
        <p:nvSpPr>
          <p:cNvPr id="389" name="Google Shape;389;p16"/>
          <p:cNvSpPr/>
          <p:nvPr/>
        </p:nvSpPr>
        <p:spPr>
          <a:xfrm>
            <a:off x="502920" y="2560320"/>
            <a:ext cx="402336" cy="402336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390" name="Google Shape;390;p16"/>
          <p:cNvSpPr txBox="1"/>
          <p:nvPr/>
        </p:nvSpPr>
        <p:spPr>
          <a:xfrm>
            <a:off x="1097280" y="2523744"/>
            <a:ext cx="99212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Contexto</a:t>
            </a:r>
            <a:endParaRPr/>
          </a:p>
          <a:p>
            <a:pPr marL="0" marR="0" lvl="0" indent="0" algn="l" rtl="0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Onde mora a verdade: o requisito, o repositório, a especificação da API.</a:t>
            </a:r>
            <a:endParaRPr/>
          </a:p>
        </p:txBody>
      </p:sp>
      <p:sp>
        <p:nvSpPr>
          <p:cNvPr id="391" name="Google Shape;391;p16"/>
          <p:cNvSpPr/>
          <p:nvPr/>
        </p:nvSpPr>
        <p:spPr>
          <a:xfrm>
            <a:off x="502920" y="3255263"/>
            <a:ext cx="402336" cy="402336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392" name="Google Shape;392;p16"/>
          <p:cNvSpPr txBox="1"/>
          <p:nvPr/>
        </p:nvSpPr>
        <p:spPr>
          <a:xfrm>
            <a:off x="1097280" y="3218687"/>
            <a:ext cx="99212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Regras</a:t>
            </a:r>
            <a:endParaRPr/>
          </a:p>
          <a:p>
            <a:pPr marL="0" marR="0" lvl="0" indent="0" algn="l" rtl="0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O que NÃO fazer. "Não suponha, não crie hipóteses" vale mais que dez linhas de instrução.</a:t>
            </a:r>
            <a:endParaRPr/>
          </a:p>
        </p:txBody>
      </p:sp>
      <p:sp>
        <p:nvSpPr>
          <p:cNvPr id="393" name="Google Shape;393;p16"/>
          <p:cNvSpPr/>
          <p:nvPr/>
        </p:nvSpPr>
        <p:spPr>
          <a:xfrm>
            <a:off x="502920" y="3950207"/>
            <a:ext cx="402336" cy="402336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394" name="Google Shape;394;p16"/>
          <p:cNvSpPr txBox="1"/>
          <p:nvPr/>
        </p:nvSpPr>
        <p:spPr>
          <a:xfrm>
            <a:off x="1097280" y="3913631"/>
            <a:ext cx="99212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Exemplo</a:t>
            </a:r>
            <a:endParaRPr/>
          </a:p>
          <a:p>
            <a:pPr marL="0" marR="0" lvl="0" indent="0" algn="l" rtl="0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Um caso já resolvido. Ancora o nível de detalhe que você espera de volta.</a:t>
            </a:r>
            <a:endParaRPr/>
          </a:p>
        </p:txBody>
      </p:sp>
      <p:sp>
        <p:nvSpPr>
          <p:cNvPr id="395" name="Google Shape;395;p16"/>
          <p:cNvSpPr/>
          <p:nvPr/>
        </p:nvSpPr>
        <p:spPr>
          <a:xfrm>
            <a:off x="502920" y="4645151"/>
            <a:ext cx="402336" cy="402336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396" name="Google Shape;396;p16"/>
          <p:cNvSpPr txBox="1"/>
          <p:nvPr/>
        </p:nvSpPr>
        <p:spPr>
          <a:xfrm>
            <a:off x="1097280" y="4608575"/>
            <a:ext cx="99212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Formato</a:t>
            </a:r>
            <a:endParaRPr/>
          </a:p>
          <a:p>
            <a:pPr marL="0" marR="0" lvl="0" indent="0" algn="l" rtl="0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Como a resposta deve sair: tabela, JSON, Gherkin. Decidido antes, não depois.</a:t>
            </a:r>
            <a:endParaRPr/>
          </a:p>
        </p:txBody>
      </p:sp>
      <p:sp>
        <p:nvSpPr>
          <p:cNvPr id="397" name="Google Shape;397;p16"/>
          <p:cNvSpPr txBox="1"/>
          <p:nvPr/>
        </p:nvSpPr>
        <p:spPr>
          <a:xfrm>
            <a:off x="502920" y="5349240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1" u="none" strike="noStrike" cap="none">
                <a:solidFill>
                  <a:srgbClr val="666E7A"/>
                </a:solidFill>
                <a:latin typeface="Calibri"/>
                <a:ea typeface="Calibri"/>
                <a:cs typeface="Calibri"/>
                <a:sym typeface="Calibri"/>
              </a:rPr>
              <a:t>Estrutura da biblioteca de prompts de Júlio de Lima — github.com/juliodelimas/gen-ai-para-produtividade-em-testes (CC BY 4.0).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1"/>
          <p:cNvSpPr/>
          <p:nvPr/>
        </p:nvSpPr>
        <p:spPr>
          <a:xfrm>
            <a:off x="-6402" y="5850467"/>
            <a:ext cx="11520487" cy="6297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1"/>
          <p:cNvSpPr txBox="1">
            <a:spLocks noGrp="1"/>
          </p:cNvSpPr>
          <p:nvPr>
            <p:ph type="ctrTitle"/>
          </p:nvPr>
        </p:nvSpPr>
        <p:spPr>
          <a:xfrm>
            <a:off x="719932" y="512907"/>
            <a:ext cx="10152880" cy="864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00"/>
              <a:buFont typeface="Calibri"/>
              <a:buNone/>
            </a:pPr>
            <a:r>
              <a:rPr lang="en-US" sz="4600" b="1">
                <a:solidFill>
                  <a:srgbClr val="000000"/>
                </a:solidFill>
              </a:rPr>
              <a:t>Um exemplo prático</a:t>
            </a:r>
            <a:endParaRPr/>
          </a:p>
        </p:txBody>
      </p:sp>
      <p:sp>
        <p:nvSpPr>
          <p:cNvPr id="405" name="Google Shape;405;p11"/>
          <p:cNvSpPr txBox="1"/>
          <p:nvPr/>
        </p:nvSpPr>
        <p:spPr>
          <a:xfrm>
            <a:off x="719138" y="226587"/>
            <a:ext cx="1512317" cy="288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WeComp 2026</a:t>
            </a:r>
            <a:endParaRPr/>
          </a:p>
        </p:txBody>
      </p:sp>
      <p:sp>
        <p:nvSpPr>
          <p:cNvPr id="406" name="Google Shape;406;p11"/>
          <p:cNvSpPr/>
          <p:nvPr/>
        </p:nvSpPr>
        <p:spPr>
          <a:xfrm>
            <a:off x="0" y="287759"/>
            <a:ext cx="719138" cy="14401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07" name="Google Shape;407;p11"/>
          <p:cNvCxnSpPr/>
          <p:nvPr/>
        </p:nvCxnSpPr>
        <p:spPr>
          <a:xfrm>
            <a:off x="2375868" y="359768"/>
            <a:ext cx="3204195" cy="0"/>
          </a:xfrm>
          <a:prstGeom prst="straightConnector1">
            <a:avLst/>
          </a:prstGeom>
          <a:noFill/>
          <a:ln w="12700" cap="flat" cmpd="sng">
            <a:solidFill>
              <a:srgbClr val="002060"/>
            </a:solidFill>
            <a:prstDash val="dot"/>
            <a:miter lim="8000"/>
            <a:headEnd type="none" w="sm" len="sm"/>
            <a:tailEnd type="none" w="sm" len="sm"/>
          </a:ln>
        </p:spPr>
      </p:cxnSp>
      <p:sp>
        <p:nvSpPr>
          <p:cNvPr id="408" name="Google Shape;408;p11"/>
          <p:cNvSpPr/>
          <p:nvPr/>
        </p:nvSpPr>
        <p:spPr>
          <a:xfrm>
            <a:off x="10794947" y="289037"/>
            <a:ext cx="719138" cy="430491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1"/>
          <p:cNvSpPr txBox="1">
            <a:spLocks noGrp="1"/>
          </p:cNvSpPr>
          <p:nvPr>
            <p:ph type="sldNum" idx="12"/>
          </p:nvPr>
        </p:nvSpPr>
        <p:spPr>
          <a:xfrm>
            <a:off x="10827962" y="331280"/>
            <a:ext cx="496328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18</a:t>
            </a:fld>
            <a:endParaRPr sz="12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0" name="Google Shape;410;p11"/>
          <p:cNvSpPr/>
          <p:nvPr/>
        </p:nvSpPr>
        <p:spPr>
          <a:xfrm>
            <a:off x="2340434" y="1481328"/>
            <a:ext cx="2088232" cy="14401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11" name="Google Shape;411;p11" descr="Logotipo, nome da empresa&#10;&#10;Descrição gerada automa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11416" y="5993243"/>
            <a:ext cx="1337524" cy="344158"/>
          </a:xfrm>
          <a:prstGeom prst="rect">
            <a:avLst/>
          </a:prstGeom>
          <a:noFill/>
          <a:ln>
            <a:noFill/>
          </a:ln>
        </p:spPr>
      </p:pic>
      <p:sp>
        <p:nvSpPr>
          <p:cNvPr id="412" name="Google Shape;412;p11"/>
          <p:cNvSpPr/>
          <p:nvPr/>
        </p:nvSpPr>
        <p:spPr>
          <a:xfrm>
            <a:off x="285745" y="3052107"/>
            <a:ext cx="10515600" cy="1371600"/>
          </a:xfrm>
          <a:prstGeom prst="roundRect">
            <a:avLst>
              <a:gd name="adj" fmla="val 5000"/>
            </a:avLst>
          </a:prstGeom>
          <a:solidFill>
            <a:srgbClr val="002060"/>
          </a:solidFill>
          <a:ln>
            <a:noFill/>
          </a:ln>
        </p:spPr>
        <p:txBody>
          <a:bodyPr spcFirstLastPara="1" wrap="square" lIns="146300" tIns="109725" rIns="146300" bIns="1097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1"/>
          <p:cNvSpPr txBox="1"/>
          <p:nvPr/>
        </p:nvSpPr>
        <p:spPr>
          <a:xfrm>
            <a:off x="868955" y="3530153"/>
            <a:ext cx="97842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US" sz="27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partir</a:t>
            </a:r>
            <a:r>
              <a:rPr lang="en-US" sz="27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de um </a:t>
            </a:r>
            <a:r>
              <a:rPr lang="en-US" sz="27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r>
              <a:rPr lang="en-US" sz="27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equisito</a:t>
            </a:r>
            <a:r>
              <a:rPr lang="en-US" sz="27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27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teste</a:t>
            </a:r>
            <a:r>
              <a:rPr lang="en-US" sz="27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e </a:t>
            </a:r>
            <a:r>
              <a:rPr lang="en-US" sz="27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Pull Request.</a:t>
            </a:r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9" name="Google Shape;419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1520311" cy="6480175"/>
          </a:xfrm>
          <a:prstGeom prst="rect">
            <a:avLst/>
          </a:prstGeom>
          <a:noFill/>
          <a:ln>
            <a:noFill/>
          </a:ln>
        </p:spPr>
      </p:pic>
      <p:sp>
        <p:nvSpPr>
          <p:cNvPr id="420" name="Google Shape;420;p17"/>
          <p:cNvSpPr txBox="1">
            <a:spLocks noGrp="1"/>
          </p:cNvSpPr>
          <p:nvPr>
            <p:ph type="sldNum" idx="12"/>
          </p:nvPr>
        </p:nvSpPr>
        <p:spPr>
          <a:xfrm>
            <a:off x="8136345" y="6006163"/>
            <a:ext cx="2592110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pic>
        <p:nvPicPr>
          <p:cNvPr id="421" name="Google Shape;421;p17" descr="Logotipo, nome da empresa&#10;&#10;Descrição gerada automaticament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59693" y="214235"/>
            <a:ext cx="1337524" cy="344158"/>
          </a:xfrm>
          <a:prstGeom prst="rect">
            <a:avLst/>
          </a:prstGeom>
          <a:noFill/>
          <a:ln>
            <a:noFill/>
          </a:ln>
        </p:spPr>
      </p:pic>
      <p:sp>
        <p:nvSpPr>
          <p:cNvPr id="422" name="Google Shape;422;p17"/>
          <p:cNvSpPr txBox="1"/>
          <p:nvPr/>
        </p:nvSpPr>
        <p:spPr>
          <a:xfrm>
            <a:off x="1081275" y="2377440"/>
            <a:ext cx="877824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7500"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Montserrat Black"/>
              <a:buNone/>
            </a:pPr>
            <a:r>
              <a:rPr lang="en-US" sz="6600" b="1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A importância das métricas</a:t>
            </a:r>
            <a:endParaRPr sz="6600" b="1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Montserrat Black"/>
              <a:buNone/>
            </a:pPr>
            <a:endParaRPr sz="6600" b="1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18"/>
          <p:cNvSpPr/>
          <p:nvPr/>
        </p:nvSpPr>
        <p:spPr>
          <a:xfrm>
            <a:off x="-6402" y="5850467"/>
            <a:ext cx="11520487" cy="6297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18"/>
          <p:cNvSpPr txBox="1">
            <a:spLocks noGrp="1"/>
          </p:cNvSpPr>
          <p:nvPr>
            <p:ph type="ctrTitle"/>
          </p:nvPr>
        </p:nvSpPr>
        <p:spPr>
          <a:xfrm>
            <a:off x="719932" y="512907"/>
            <a:ext cx="10152880" cy="864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00"/>
              <a:buFont typeface="Calibri"/>
              <a:buNone/>
            </a:pPr>
            <a:r>
              <a:rPr lang="en-US" sz="46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</a:t>
            </a:r>
            <a:r>
              <a:rPr lang="en-US" sz="4600" b="1">
                <a:solidFill>
                  <a:srgbClr val="000000"/>
                </a:solidFill>
              </a:rPr>
              <a:t>mo construir confiança?</a:t>
            </a:r>
            <a:endParaRPr/>
          </a:p>
        </p:txBody>
      </p:sp>
      <p:sp>
        <p:nvSpPr>
          <p:cNvPr id="430" name="Google Shape;430;p18"/>
          <p:cNvSpPr txBox="1"/>
          <p:nvPr/>
        </p:nvSpPr>
        <p:spPr>
          <a:xfrm>
            <a:off x="719138" y="226587"/>
            <a:ext cx="1512317" cy="288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WeComp 2026</a:t>
            </a:r>
            <a:endParaRPr/>
          </a:p>
        </p:txBody>
      </p:sp>
      <p:sp>
        <p:nvSpPr>
          <p:cNvPr id="431" name="Google Shape;431;p18"/>
          <p:cNvSpPr/>
          <p:nvPr/>
        </p:nvSpPr>
        <p:spPr>
          <a:xfrm>
            <a:off x="0" y="287759"/>
            <a:ext cx="719138" cy="14401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32" name="Google Shape;432;p18"/>
          <p:cNvCxnSpPr/>
          <p:nvPr/>
        </p:nvCxnSpPr>
        <p:spPr>
          <a:xfrm>
            <a:off x="2375868" y="359768"/>
            <a:ext cx="3204195" cy="0"/>
          </a:xfrm>
          <a:prstGeom prst="straightConnector1">
            <a:avLst/>
          </a:prstGeom>
          <a:noFill/>
          <a:ln w="12700" cap="flat" cmpd="sng">
            <a:solidFill>
              <a:srgbClr val="002060"/>
            </a:solidFill>
            <a:prstDash val="dot"/>
            <a:miter lim="8000"/>
            <a:headEnd type="none" w="sm" len="sm"/>
            <a:tailEnd type="none" w="sm" len="sm"/>
          </a:ln>
        </p:spPr>
      </p:cxnSp>
      <p:sp>
        <p:nvSpPr>
          <p:cNvPr id="433" name="Google Shape;433;p18"/>
          <p:cNvSpPr/>
          <p:nvPr/>
        </p:nvSpPr>
        <p:spPr>
          <a:xfrm>
            <a:off x="10794947" y="289037"/>
            <a:ext cx="719138" cy="430491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8"/>
          <p:cNvSpPr txBox="1">
            <a:spLocks noGrp="1"/>
          </p:cNvSpPr>
          <p:nvPr>
            <p:ph type="sldNum" idx="12"/>
          </p:nvPr>
        </p:nvSpPr>
        <p:spPr>
          <a:xfrm>
            <a:off x="10827962" y="331280"/>
            <a:ext cx="496328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20</a:t>
            </a:fld>
            <a:endParaRPr sz="12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5" name="Google Shape;435;p18"/>
          <p:cNvSpPr/>
          <p:nvPr/>
        </p:nvSpPr>
        <p:spPr>
          <a:xfrm>
            <a:off x="2340434" y="1481328"/>
            <a:ext cx="2088232" cy="14401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36" name="Google Shape;436;p18" descr="Logotipo, nome da empresa&#10;&#10;Descrição gerada automa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11416" y="5993243"/>
            <a:ext cx="1337524" cy="344158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p18"/>
          <p:cNvSpPr/>
          <p:nvPr/>
        </p:nvSpPr>
        <p:spPr>
          <a:xfrm>
            <a:off x="502920" y="1874519"/>
            <a:ext cx="3273552" cy="1965960"/>
          </a:xfrm>
          <a:prstGeom prst="roundRect">
            <a:avLst>
              <a:gd name="adj" fmla="val 4000"/>
            </a:avLst>
          </a:prstGeom>
          <a:solidFill>
            <a:srgbClr val="F1F4F9"/>
          </a:solidFill>
          <a:ln>
            <a:noFill/>
          </a:ln>
        </p:spPr>
        <p:txBody>
          <a:bodyPr spcFirstLastPara="1" wrap="square" lIns="146300" tIns="109725" rIns="146300" bIns="10972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Testes unitários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Escritos pelos devs. Cobertura por módulo e evolução ao longo das sprints.</a:t>
            </a:r>
            <a:endParaRPr/>
          </a:p>
        </p:txBody>
      </p:sp>
      <p:sp>
        <p:nvSpPr>
          <p:cNvPr id="438" name="Google Shape;438;p18"/>
          <p:cNvSpPr/>
          <p:nvPr/>
        </p:nvSpPr>
        <p:spPr>
          <a:xfrm>
            <a:off x="4123944" y="1874519"/>
            <a:ext cx="3273552" cy="1965960"/>
          </a:xfrm>
          <a:prstGeom prst="roundRect">
            <a:avLst>
              <a:gd name="adj" fmla="val 4000"/>
            </a:avLst>
          </a:prstGeom>
          <a:solidFill>
            <a:srgbClr val="F1F4F9"/>
          </a:solidFill>
          <a:ln>
            <a:noFill/>
          </a:ln>
        </p:spPr>
        <p:txBody>
          <a:bodyPr spcFirstLastPara="1" wrap="square" lIns="146300" tIns="109725" rIns="146300" bIns="10972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Testes E2E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Gerados e executados n</a:t>
            </a:r>
            <a:r>
              <a:rPr lang="en-US" sz="12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r>
              <a:rPr lang="en-US" sz="125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pipeline. Falhas, reincidência e tempo de execução.</a:t>
            </a:r>
            <a:endParaRPr/>
          </a:p>
        </p:txBody>
      </p:sp>
      <p:sp>
        <p:nvSpPr>
          <p:cNvPr id="439" name="Google Shape;439;p18"/>
          <p:cNvSpPr/>
          <p:nvPr/>
        </p:nvSpPr>
        <p:spPr>
          <a:xfrm>
            <a:off x="7744968" y="1874519"/>
            <a:ext cx="3273552" cy="1965960"/>
          </a:xfrm>
          <a:prstGeom prst="roundRect">
            <a:avLst>
              <a:gd name="adj" fmla="val 4000"/>
            </a:avLst>
          </a:prstGeom>
          <a:solidFill>
            <a:srgbClr val="002060"/>
          </a:solidFill>
          <a:ln>
            <a:noFill/>
          </a:ln>
        </p:spPr>
        <p:txBody>
          <a:bodyPr spcFirstLastPara="1" wrap="square" lIns="146300" tIns="109725" rIns="146300" bIns="10972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Painel </a:t>
            </a: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 Qualidade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D3DDEE"/>
                </a:solidFill>
                <a:latin typeface="Calibri"/>
                <a:ea typeface="Calibri"/>
                <a:cs typeface="Calibri"/>
                <a:sym typeface="Calibri"/>
              </a:rPr>
              <a:t>As duas fontes no mesmo lugar, </a:t>
            </a:r>
            <a:r>
              <a:rPr lang="en-US" sz="1250">
                <a:solidFill>
                  <a:srgbClr val="D3DDEE"/>
                </a:solidFill>
                <a:latin typeface="Calibri"/>
                <a:ea typeface="Calibri"/>
                <a:cs typeface="Calibri"/>
                <a:sym typeface="Calibri"/>
              </a:rPr>
              <a:t>transparente para que qualquer integrante do time consiga entender.</a:t>
            </a:r>
            <a:endParaRPr/>
          </a:p>
        </p:txBody>
      </p:sp>
      <p:sp>
        <p:nvSpPr>
          <p:cNvPr id="440" name="Google Shape;440;p18"/>
          <p:cNvSpPr txBox="1"/>
          <p:nvPr/>
        </p:nvSpPr>
        <p:spPr>
          <a:xfrm>
            <a:off x="502920" y="4114800"/>
            <a:ext cx="10515600" cy="2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5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Enquanto não medimos, "a qualidade melhorou" é opinião. É por isso que o </a:t>
            </a:r>
            <a:r>
              <a:rPr lang="en-US" sz="14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“gate” </a:t>
            </a:r>
            <a:r>
              <a:rPr lang="en-US" sz="145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humano ainda carrega tanto peso no nosso fluxo.</a:t>
            </a:r>
            <a:endParaRPr/>
          </a:p>
        </p:txBody>
      </p:sp>
      <p:cxnSp>
        <p:nvCxnSpPr>
          <p:cNvPr id="441" name="Google Shape;441;p18"/>
          <p:cNvCxnSpPr>
            <a:stCxn id="437" idx="3"/>
            <a:endCxn id="438" idx="1"/>
          </p:cNvCxnSpPr>
          <p:nvPr/>
        </p:nvCxnSpPr>
        <p:spPr>
          <a:xfrm>
            <a:off x="3776472" y="2857499"/>
            <a:ext cx="347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2" name="Google Shape;442;p18"/>
          <p:cNvCxnSpPr>
            <a:stCxn id="438" idx="3"/>
            <a:endCxn id="439" idx="1"/>
          </p:cNvCxnSpPr>
          <p:nvPr/>
        </p:nvCxnSpPr>
        <p:spPr>
          <a:xfrm>
            <a:off x="7397496" y="2857499"/>
            <a:ext cx="347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fb7faf8a4f_0_7"/>
          <p:cNvSpPr/>
          <p:nvPr/>
        </p:nvSpPr>
        <p:spPr>
          <a:xfrm>
            <a:off x="-6402" y="5850467"/>
            <a:ext cx="11520600" cy="6297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g3fb7faf8a4f_0_7"/>
          <p:cNvSpPr txBox="1"/>
          <p:nvPr/>
        </p:nvSpPr>
        <p:spPr>
          <a:xfrm>
            <a:off x="719138" y="226587"/>
            <a:ext cx="15123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WeComp 2026</a:t>
            </a:r>
            <a:endParaRPr/>
          </a:p>
        </p:txBody>
      </p:sp>
      <p:sp>
        <p:nvSpPr>
          <p:cNvPr id="450" name="Google Shape;450;g3fb7faf8a4f_0_7"/>
          <p:cNvSpPr/>
          <p:nvPr/>
        </p:nvSpPr>
        <p:spPr>
          <a:xfrm>
            <a:off x="0" y="287759"/>
            <a:ext cx="719100" cy="144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51" name="Google Shape;451;g3fb7faf8a4f_0_7"/>
          <p:cNvCxnSpPr/>
          <p:nvPr/>
        </p:nvCxnSpPr>
        <p:spPr>
          <a:xfrm>
            <a:off x="2375868" y="359768"/>
            <a:ext cx="3204300" cy="0"/>
          </a:xfrm>
          <a:prstGeom prst="straightConnector1">
            <a:avLst/>
          </a:prstGeom>
          <a:noFill/>
          <a:ln w="12700" cap="flat" cmpd="sng">
            <a:solidFill>
              <a:srgbClr val="002060"/>
            </a:solidFill>
            <a:prstDash val="dot"/>
            <a:miter lim="8000"/>
            <a:headEnd type="none" w="sm" len="sm"/>
            <a:tailEnd type="none" w="sm" len="sm"/>
          </a:ln>
        </p:spPr>
      </p:cxnSp>
      <p:sp>
        <p:nvSpPr>
          <p:cNvPr id="452" name="Google Shape;452;g3fb7faf8a4f_0_7"/>
          <p:cNvSpPr/>
          <p:nvPr/>
        </p:nvSpPr>
        <p:spPr>
          <a:xfrm>
            <a:off x="10794947" y="289037"/>
            <a:ext cx="719100" cy="4305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g3fb7faf8a4f_0_7"/>
          <p:cNvSpPr txBox="1">
            <a:spLocks noGrp="1"/>
          </p:cNvSpPr>
          <p:nvPr>
            <p:ph type="sldNum" idx="12"/>
          </p:nvPr>
        </p:nvSpPr>
        <p:spPr>
          <a:xfrm>
            <a:off x="10827962" y="331280"/>
            <a:ext cx="496200" cy="3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21</a:t>
            </a:fld>
            <a:endParaRPr sz="12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4" name="Google Shape;454;g3fb7faf8a4f_0_7"/>
          <p:cNvSpPr/>
          <p:nvPr/>
        </p:nvSpPr>
        <p:spPr>
          <a:xfrm>
            <a:off x="2340434" y="1481328"/>
            <a:ext cx="2088300" cy="144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55" name="Google Shape;455;g3fb7faf8a4f_0_7" descr="Logotipo, nome da empresa&#10;&#10;Descrição gerada automa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11416" y="5993243"/>
            <a:ext cx="1337524" cy="344158"/>
          </a:xfrm>
          <a:prstGeom prst="rect">
            <a:avLst/>
          </a:prstGeom>
          <a:noFill/>
          <a:ln>
            <a:noFill/>
          </a:ln>
        </p:spPr>
      </p:pic>
      <p:pic>
        <p:nvPicPr>
          <p:cNvPr id="456" name="Google Shape;456;g3fb7faf8a4f_0_7" title="1-throughput-mensal-clar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67613" y="697198"/>
            <a:ext cx="8151874" cy="4970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3fb7faf8a4f_0_25"/>
          <p:cNvSpPr/>
          <p:nvPr/>
        </p:nvSpPr>
        <p:spPr>
          <a:xfrm>
            <a:off x="-6402" y="5850467"/>
            <a:ext cx="11520600" cy="6297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g3fb7faf8a4f_0_25"/>
          <p:cNvSpPr txBox="1"/>
          <p:nvPr/>
        </p:nvSpPr>
        <p:spPr>
          <a:xfrm>
            <a:off x="719138" y="226587"/>
            <a:ext cx="15123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WeComp 2026</a:t>
            </a:r>
            <a:endParaRPr/>
          </a:p>
        </p:txBody>
      </p:sp>
      <p:sp>
        <p:nvSpPr>
          <p:cNvPr id="464" name="Google Shape;464;g3fb7faf8a4f_0_25"/>
          <p:cNvSpPr/>
          <p:nvPr/>
        </p:nvSpPr>
        <p:spPr>
          <a:xfrm>
            <a:off x="0" y="287759"/>
            <a:ext cx="719100" cy="144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65" name="Google Shape;465;g3fb7faf8a4f_0_25"/>
          <p:cNvCxnSpPr/>
          <p:nvPr/>
        </p:nvCxnSpPr>
        <p:spPr>
          <a:xfrm>
            <a:off x="2375868" y="359768"/>
            <a:ext cx="3204300" cy="0"/>
          </a:xfrm>
          <a:prstGeom prst="straightConnector1">
            <a:avLst/>
          </a:prstGeom>
          <a:noFill/>
          <a:ln w="12700" cap="flat" cmpd="sng">
            <a:solidFill>
              <a:srgbClr val="002060"/>
            </a:solidFill>
            <a:prstDash val="dot"/>
            <a:miter lim="8000"/>
            <a:headEnd type="none" w="sm" len="sm"/>
            <a:tailEnd type="none" w="sm" len="sm"/>
          </a:ln>
        </p:spPr>
      </p:cxnSp>
      <p:sp>
        <p:nvSpPr>
          <p:cNvPr id="466" name="Google Shape;466;g3fb7faf8a4f_0_25"/>
          <p:cNvSpPr/>
          <p:nvPr/>
        </p:nvSpPr>
        <p:spPr>
          <a:xfrm>
            <a:off x="10794947" y="289037"/>
            <a:ext cx="719100" cy="4305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g3fb7faf8a4f_0_25"/>
          <p:cNvSpPr txBox="1">
            <a:spLocks noGrp="1"/>
          </p:cNvSpPr>
          <p:nvPr>
            <p:ph type="sldNum" idx="12"/>
          </p:nvPr>
        </p:nvSpPr>
        <p:spPr>
          <a:xfrm>
            <a:off x="10827962" y="331280"/>
            <a:ext cx="496200" cy="3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22</a:t>
            </a:fld>
            <a:endParaRPr sz="12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8" name="Google Shape;468;g3fb7faf8a4f_0_25"/>
          <p:cNvSpPr/>
          <p:nvPr/>
        </p:nvSpPr>
        <p:spPr>
          <a:xfrm>
            <a:off x="2340434" y="1481328"/>
            <a:ext cx="2088300" cy="144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69" name="Google Shape;469;g3fb7faf8a4f_0_25" descr="Logotipo, nome da empresa&#10;&#10;Descrição gerada automa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11416" y="5993243"/>
            <a:ext cx="1337524" cy="344158"/>
          </a:xfrm>
          <a:prstGeom prst="rect">
            <a:avLst/>
          </a:prstGeom>
          <a:noFill/>
          <a:ln>
            <a:noFill/>
          </a:ln>
        </p:spPr>
      </p:pic>
      <p:pic>
        <p:nvPicPr>
          <p:cNvPr id="470" name="Google Shape;470;g3fb7faf8a4f_0_25" title="2-fila-de-qa-clar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17677" y="753677"/>
            <a:ext cx="8851748" cy="48576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3fb7faf8a4f_0_40"/>
          <p:cNvSpPr/>
          <p:nvPr/>
        </p:nvSpPr>
        <p:spPr>
          <a:xfrm>
            <a:off x="-6402" y="5850467"/>
            <a:ext cx="11520600" cy="6297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g3fb7faf8a4f_0_40"/>
          <p:cNvSpPr txBox="1"/>
          <p:nvPr/>
        </p:nvSpPr>
        <p:spPr>
          <a:xfrm>
            <a:off x="719138" y="226587"/>
            <a:ext cx="15123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WeComp 2026</a:t>
            </a:r>
            <a:endParaRPr/>
          </a:p>
        </p:txBody>
      </p:sp>
      <p:sp>
        <p:nvSpPr>
          <p:cNvPr id="478" name="Google Shape;478;g3fb7faf8a4f_0_40"/>
          <p:cNvSpPr/>
          <p:nvPr/>
        </p:nvSpPr>
        <p:spPr>
          <a:xfrm>
            <a:off x="0" y="287759"/>
            <a:ext cx="719100" cy="144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79" name="Google Shape;479;g3fb7faf8a4f_0_40"/>
          <p:cNvCxnSpPr/>
          <p:nvPr/>
        </p:nvCxnSpPr>
        <p:spPr>
          <a:xfrm>
            <a:off x="2375868" y="359768"/>
            <a:ext cx="3204300" cy="0"/>
          </a:xfrm>
          <a:prstGeom prst="straightConnector1">
            <a:avLst/>
          </a:prstGeom>
          <a:noFill/>
          <a:ln w="12700" cap="flat" cmpd="sng">
            <a:solidFill>
              <a:srgbClr val="002060"/>
            </a:solidFill>
            <a:prstDash val="dot"/>
            <a:miter lim="8000"/>
            <a:headEnd type="none" w="sm" len="sm"/>
            <a:tailEnd type="none" w="sm" len="sm"/>
          </a:ln>
        </p:spPr>
      </p:cxnSp>
      <p:sp>
        <p:nvSpPr>
          <p:cNvPr id="480" name="Google Shape;480;g3fb7faf8a4f_0_40"/>
          <p:cNvSpPr/>
          <p:nvPr/>
        </p:nvSpPr>
        <p:spPr>
          <a:xfrm>
            <a:off x="10794947" y="289037"/>
            <a:ext cx="719100" cy="4305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g3fb7faf8a4f_0_40"/>
          <p:cNvSpPr txBox="1">
            <a:spLocks noGrp="1"/>
          </p:cNvSpPr>
          <p:nvPr>
            <p:ph type="sldNum" idx="12"/>
          </p:nvPr>
        </p:nvSpPr>
        <p:spPr>
          <a:xfrm>
            <a:off x="10827962" y="331280"/>
            <a:ext cx="496200" cy="3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23</a:t>
            </a:fld>
            <a:endParaRPr sz="12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2" name="Google Shape;482;g3fb7faf8a4f_0_40"/>
          <p:cNvSpPr/>
          <p:nvPr/>
        </p:nvSpPr>
        <p:spPr>
          <a:xfrm>
            <a:off x="2340434" y="1481328"/>
            <a:ext cx="2088300" cy="144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3" name="Google Shape;483;g3fb7faf8a4f_0_40" descr="Logotipo, nome da empresa&#10;&#10;Descrição gerada automa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11416" y="5993243"/>
            <a:ext cx="1337524" cy="344158"/>
          </a:xfrm>
          <a:prstGeom prst="rect">
            <a:avLst/>
          </a:prstGeom>
          <a:noFill/>
          <a:ln>
            <a:noFill/>
          </a:ln>
        </p:spPr>
      </p:pic>
      <p:pic>
        <p:nvPicPr>
          <p:cNvPr id="484" name="Google Shape;484;g3fb7faf8a4f_0_40" title="3-suite-automacao-clar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8880" y="993701"/>
            <a:ext cx="10256146" cy="4377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3fb7faf8a4f_0_55"/>
          <p:cNvSpPr/>
          <p:nvPr/>
        </p:nvSpPr>
        <p:spPr>
          <a:xfrm>
            <a:off x="-6402" y="5850467"/>
            <a:ext cx="11520600" cy="6297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g3fb7faf8a4f_0_55"/>
          <p:cNvSpPr txBox="1"/>
          <p:nvPr/>
        </p:nvSpPr>
        <p:spPr>
          <a:xfrm>
            <a:off x="719138" y="226587"/>
            <a:ext cx="15123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WeComp 2026</a:t>
            </a:r>
            <a:endParaRPr/>
          </a:p>
        </p:txBody>
      </p:sp>
      <p:sp>
        <p:nvSpPr>
          <p:cNvPr id="492" name="Google Shape;492;g3fb7faf8a4f_0_55"/>
          <p:cNvSpPr/>
          <p:nvPr/>
        </p:nvSpPr>
        <p:spPr>
          <a:xfrm>
            <a:off x="0" y="287759"/>
            <a:ext cx="719100" cy="144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93" name="Google Shape;493;g3fb7faf8a4f_0_55"/>
          <p:cNvCxnSpPr/>
          <p:nvPr/>
        </p:nvCxnSpPr>
        <p:spPr>
          <a:xfrm>
            <a:off x="2375868" y="359768"/>
            <a:ext cx="3204300" cy="0"/>
          </a:xfrm>
          <a:prstGeom prst="straightConnector1">
            <a:avLst/>
          </a:prstGeom>
          <a:noFill/>
          <a:ln w="12700" cap="flat" cmpd="sng">
            <a:solidFill>
              <a:srgbClr val="002060"/>
            </a:solidFill>
            <a:prstDash val="dot"/>
            <a:miter lim="8000"/>
            <a:headEnd type="none" w="sm" len="sm"/>
            <a:tailEnd type="none" w="sm" len="sm"/>
          </a:ln>
        </p:spPr>
      </p:cxnSp>
      <p:sp>
        <p:nvSpPr>
          <p:cNvPr id="494" name="Google Shape;494;g3fb7faf8a4f_0_55"/>
          <p:cNvSpPr/>
          <p:nvPr/>
        </p:nvSpPr>
        <p:spPr>
          <a:xfrm>
            <a:off x="10794947" y="289037"/>
            <a:ext cx="719100" cy="4305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g3fb7faf8a4f_0_55"/>
          <p:cNvSpPr txBox="1">
            <a:spLocks noGrp="1"/>
          </p:cNvSpPr>
          <p:nvPr>
            <p:ph type="sldNum" idx="12"/>
          </p:nvPr>
        </p:nvSpPr>
        <p:spPr>
          <a:xfrm>
            <a:off x="10827962" y="331280"/>
            <a:ext cx="496200" cy="3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24</a:t>
            </a:fld>
            <a:endParaRPr sz="12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6" name="Google Shape;496;g3fb7faf8a4f_0_55"/>
          <p:cNvSpPr/>
          <p:nvPr/>
        </p:nvSpPr>
        <p:spPr>
          <a:xfrm>
            <a:off x="2340434" y="1481328"/>
            <a:ext cx="2088300" cy="144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97" name="Google Shape;497;g3fb7faf8a4f_0_55" descr="Logotipo, nome da empresa&#10;&#10;Descrição gerada automa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11416" y="5993243"/>
            <a:ext cx="1337524" cy="344158"/>
          </a:xfrm>
          <a:prstGeom prst="rect">
            <a:avLst/>
          </a:prstGeom>
          <a:noFill/>
          <a:ln>
            <a:noFill/>
          </a:ln>
        </p:spPr>
      </p:pic>
      <p:pic>
        <p:nvPicPr>
          <p:cNvPr id="498" name="Google Shape;498;g3fb7faf8a4f_0_55" title="4-rigor-vs-volume-clar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42093" y="717052"/>
            <a:ext cx="8602923" cy="4930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fb7faf8a4f_0_70"/>
          <p:cNvSpPr/>
          <p:nvPr/>
        </p:nvSpPr>
        <p:spPr>
          <a:xfrm>
            <a:off x="-6402" y="5850467"/>
            <a:ext cx="11520600" cy="6297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g3fb7faf8a4f_0_70"/>
          <p:cNvSpPr txBox="1"/>
          <p:nvPr/>
        </p:nvSpPr>
        <p:spPr>
          <a:xfrm>
            <a:off x="719138" y="226587"/>
            <a:ext cx="15123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WeComp 2026</a:t>
            </a:r>
            <a:endParaRPr/>
          </a:p>
        </p:txBody>
      </p:sp>
      <p:sp>
        <p:nvSpPr>
          <p:cNvPr id="506" name="Google Shape;506;g3fb7faf8a4f_0_70"/>
          <p:cNvSpPr/>
          <p:nvPr/>
        </p:nvSpPr>
        <p:spPr>
          <a:xfrm>
            <a:off x="0" y="287759"/>
            <a:ext cx="719100" cy="144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07" name="Google Shape;507;g3fb7faf8a4f_0_70"/>
          <p:cNvCxnSpPr/>
          <p:nvPr/>
        </p:nvCxnSpPr>
        <p:spPr>
          <a:xfrm>
            <a:off x="2375868" y="359768"/>
            <a:ext cx="3204300" cy="0"/>
          </a:xfrm>
          <a:prstGeom prst="straightConnector1">
            <a:avLst/>
          </a:prstGeom>
          <a:noFill/>
          <a:ln w="12700" cap="flat" cmpd="sng">
            <a:solidFill>
              <a:srgbClr val="002060"/>
            </a:solidFill>
            <a:prstDash val="dot"/>
            <a:miter lim="8000"/>
            <a:headEnd type="none" w="sm" len="sm"/>
            <a:tailEnd type="none" w="sm" len="sm"/>
          </a:ln>
        </p:spPr>
      </p:cxnSp>
      <p:sp>
        <p:nvSpPr>
          <p:cNvPr id="508" name="Google Shape;508;g3fb7faf8a4f_0_70"/>
          <p:cNvSpPr/>
          <p:nvPr/>
        </p:nvSpPr>
        <p:spPr>
          <a:xfrm>
            <a:off x="10794947" y="289037"/>
            <a:ext cx="719100" cy="4305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g3fb7faf8a4f_0_70"/>
          <p:cNvSpPr txBox="1">
            <a:spLocks noGrp="1"/>
          </p:cNvSpPr>
          <p:nvPr>
            <p:ph type="sldNum" idx="12"/>
          </p:nvPr>
        </p:nvSpPr>
        <p:spPr>
          <a:xfrm>
            <a:off x="10827962" y="331280"/>
            <a:ext cx="496200" cy="3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25</a:t>
            </a:fld>
            <a:endParaRPr sz="12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0" name="Google Shape;510;g3fb7faf8a4f_0_70"/>
          <p:cNvSpPr/>
          <p:nvPr/>
        </p:nvSpPr>
        <p:spPr>
          <a:xfrm>
            <a:off x="2340434" y="1481328"/>
            <a:ext cx="2088300" cy="144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11" name="Google Shape;511;g3fb7faf8a4f_0_70" descr="Logotipo, nome da empresa&#10;&#10;Descrição gerada automa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11416" y="5993243"/>
            <a:ext cx="1337524" cy="344158"/>
          </a:xfrm>
          <a:prstGeom prst="rect">
            <a:avLst/>
          </a:prstGeom>
          <a:noFill/>
          <a:ln>
            <a:noFill/>
          </a:ln>
        </p:spPr>
      </p:pic>
      <p:pic>
        <p:nvPicPr>
          <p:cNvPr id="512" name="Google Shape;512;g3fb7faf8a4f_0_70" title="5-resumo-clar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60187" y="656336"/>
            <a:ext cx="8366727" cy="4897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8" name="Google Shape;518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1520311" cy="6480175"/>
          </a:xfrm>
          <a:prstGeom prst="rect">
            <a:avLst/>
          </a:prstGeom>
          <a:noFill/>
          <a:ln>
            <a:noFill/>
          </a:ln>
        </p:spPr>
      </p:pic>
      <p:sp>
        <p:nvSpPr>
          <p:cNvPr id="519" name="Google Shape;519;p19"/>
          <p:cNvSpPr txBox="1">
            <a:spLocks noGrp="1"/>
          </p:cNvSpPr>
          <p:nvPr>
            <p:ph type="sldNum" idx="12"/>
          </p:nvPr>
        </p:nvSpPr>
        <p:spPr>
          <a:xfrm>
            <a:off x="8136345" y="6006163"/>
            <a:ext cx="2592110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  <p:pic>
        <p:nvPicPr>
          <p:cNvPr id="520" name="Google Shape;520;p19" descr="Logotipo, nome da empresa&#10;&#10;Descrição gerada automaticament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59693" y="214235"/>
            <a:ext cx="1337524" cy="344158"/>
          </a:xfrm>
          <a:prstGeom prst="rect">
            <a:avLst/>
          </a:prstGeom>
          <a:noFill/>
          <a:ln>
            <a:noFill/>
          </a:ln>
        </p:spPr>
      </p:pic>
      <p:sp>
        <p:nvSpPr>
          <p:cNvPr id="521" name="Google Shape;521;p19"/>
          <p:cNvSpPr txBox="1"/>
          <p:nvPr/>
        </p:nvSpPr>
        <p:spPr>
          <a:xfrm>
            <a:off x="1081275" y="2377440"/>
            <a:ext cx="877824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7500"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Montserrat Black"/>
              <a:buNone/>
            </a:pPr>
            <a:r>
              <a:rPr lang="en-US" sz="6600" b="1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Sugestões e Boas Práticas</a:t>
            </a:r>
            <a:endParaRPr sz="6600" b="1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Montserrat Black"/>
              <a:buNone/>
            </a:pPr>
            <a:endParaRPr sz="6600" b="1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p20"/>
          <p:cNvSpPr/>
          <p:nvPr/>
        </p:nvSpPr>
        <p:spPr>
          <a:xfrm>
            <a:off x="-6402" y="5850467"/>
            <a:ext cx="11520487" cy="6297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20"/>
          <p:cNvSpPr txBox="1">
            <a:spLocks noGrp="1"/>
          </p:cNvSpPr>
          <p:nvPr>
            <p:ph type="ctrTitle"/>
          </p:nvPr>
        </p:nvSpPr>
        <p:spPr>
          <a:xfrm>
            <a:off x="719932" y="512907"/>
            <a:ext cx="10152880" cy="864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00"/>
              <a:buFont typeface="Calibri"/>
              <a:buNone/>
            </a:pPr>
            <a:r>
              <a:rPr lang="en-US" sz="46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Quatro lições</a:t>
            </a:r>
            <a:endParaRPr/>
          </a:p>
        </p:txBody>
      </p:sp>
      <p:sp>
        <p:nvSpPr>
          <p:cNvPr id="529" name="Google Shape;529;p20"/>
          <p:cNvSpPr txBox="1"/>
          <p:nvPr/>
        </p:nvSpPr>
        <p:spPr>
          <a:xfrm>
            <a:off x="719138" y="226587"/>
            <a:ext cx="1512317" cy="288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WeComp 2026</a:t>
            </a:r>
            <a:endParaRPr/>
          </a:p>
        </p:txBody>
      </p:sp>
      <p:sp>
        <p:nvSpPr>
          <p:cNvPr id="530" name="Google Shape;530;p20"/>
          <p:cNvSpPr/>
          <p:nvPr/>
        </p:nvSpPr>
        <p:spPr>
          <a:xfrm>
            <a:off x="0" y="287759"/>
            <a:ext cx="719138" cy="14401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31" name="Google Shape;531;p20"/>
          <p:cNvCxnSpPr/>
          <p:nvPr/>
        </p:nvCxnSpPr>
        <p:spPr>
          <a:xfrm>
            <a:off x="2375868" y="359768"/>
            <a:ext cx="3204195" cy="0"/>
          </a:xfrm>
          <a:prstGeom prst="straightConnector1">
            <a:avLst/>
          </a:prstGeom>
          <a:noFill/>
          <a:ln w="12700" cap="flat" cmpd="sng">
            <a:solidFill>
              <a:srgbClr val="002060"/>
            </a:solidFill>
            <a:prstDash val="dot"/>
            <a:miter lim="8000"/>
            <a:headEnd type="none" w="sm" len="sm"/>
            <a:tailEnd type="none" w="sm" len="sm"/>
          </a:ln>
        </p:spPr>
      </p:cxnSp>
      <p:sp>
        <p:nvSpPr>
          <p:cNvPr id="532" name="Google Shape;532;p20"/>
          <p:cNvSpPr/>
          <p:nvPr/>
        </p:nvSpPr>
        <p:spPr>
          <a:xfrm>
            <a:off x="10794947" y="289037"/>
            <a:ext cx="719138" cy="430491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20"/>
          <p:cNvSpPr txBox="1">
            <a:spLocks noGrp="1"/>
          </p:cNvSpPr>
          <p:nvPr>
            <p:ph type="sldNum" idx="12"/>
          </p:nvPr>
        </p:nvSpPr>
        <p:spPr>
          <a:xfrm>
            <a:off x="10827962" y="331280"/>
            <a:ext cx="496328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27</a:t>
            </a:fld>
            <a:endParaRPr sz="12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4" name="Google Shape;534;p20"/>
          <p:cNvSpPr/>
          <p:nvPr/>
        </p:nvSpPr>
        <p:spPr>
          <a:xfrm>
            <a:off x="2340434" y="1481328"/>
            <a:ext cx="2088232" cy="14401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5" name="Google Shape;535;p20" descr="Logotipo, nome da empresa&#10;&#10;Descrição gerada automa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11416" y="5993243"/>
            <a:ext cx="1337524" cy="344158"/>
          </a:xfrm>
          <a:prstGeom prst="rect">
            <a:avLst/>
          </a:prstGeom>
          <a:noFill/>
          <a:ln>
            <a:noFill/>
          </a:ln>
        </p:spPr>
      </p:pic>
      <p:sp>
        <p:nvSpPr>
          <p:cNvPr id="536" name="Google Shape;536;p20"/>
          <p:cNvSpPr/>
          <p:nvPr/>
        </p:nvSpPr>
        <p:spPr>
          <a:xfrm>
            <a:off x="502920" y="1965960"/>
            <a:ext cx="420624" cy="420624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537" name="Google Shape;537;p20"/>
          <p:cNvSpPr txBox="1"/>
          <p:nvPr/>
        </p:nvSpPr>
        <p:spPr>
          <a:xfrm>
            <a:off x="1133856" y="1984248"/>
            <a:ext cx="98754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O gargalo mudou de lugar: hoje ele está na revisão e correta interpretação, não na escrita</a:t>
            </a:r>
            <a:r>
              <a:rPr lang="en-US" sz="16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ou desenvolvimento</a:t>
            </a:r>
            <a:endParaRPr/>
          </a:p>
        </p:txBody>
      </p:sp>
      <p:sp>
        <p:nvSpPr>
          <p:cNvPr id="538" name="Google Shape;538;p20"/>
          <p:cNvSpPr/>
          <p:nvPr/>
        </p:nvSpPr>
        <p:spPr>
          <a:xfrm>
            <a:off x="502920" y="2898648"/>
            <a:ext cx="420624" cy="420624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539" name="Google Shape;539;p20"/>
          <p:cNvSpPr txBox="1"/>
          <p:nvPr/>
        </p:nvSpPr>
        <p:spPr>
          <a:xfrm>
            <a:off x="1133856" y="2916936"/>
            <a:ext cx="98754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Prompt bom é requisito bom</a:t>
            </a:r>
            <a:r>
              <a:rPr lang="en-US" sz="16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, ou seja, </a:t>
            </a:r>
            <a:r>
              <a:rPr lang="en-US" sz="165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 qualidade </a:t>
            </a:r>
            <a:r>
              <a:rPr lang="en-US" sz="16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começa </a:t>
            </a:r>
            <a:r>
              <a:rPr lang="en-US" sz="165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pela especificação.</a:t>
            </a:r>
            <a:endParaRPr/>
          </a:p>
        </p:txBody>
      </p:sp>
      <p:sp>
        <p:nvSpPr>
          <p:cNvPr id="540" name="Google Shape;540;p20"/>
          <p:cNvSpPr/>
          <p:nvPr/>
        </p:nvSpPr>
        <p:spPr>
          <a:xfrm>
            <a:off x="502920" y="3831335"/>
            <a:ext cx="420624" cy="420624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541" name="Google Shape;541;p20"/>
          <p:cNvSpPr txBox="1"/>
          <p:nvPr/>
        </p:nvSpPr>
        <p:spPr>
          <a:xfrm>
            <a:off x="1133856" y="3849623"/>
            <a:ext cx="98755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Pedidos segmentados vencem pedidos grandes: explorar, mapear, depois automatizar.</a:t>
            </a:r>
            <a:endParaRPr/>
          </a:p>
        </p:txBody>
      </p:sp>
      <p:sp>
        <p:nvSpPr>
          <p:cNvPr id="542" name="Google Shape;542;p20"/>
          <p:cNvSpPr/>
          <p:nvPr/>
        </p:nvSpPr>
        <p:spPr>
          <a:xfrm>
            <a:off x="502920" y="4764023"/>
            <a:ext cx="420624" cy="420624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543" name="Google Shape;543;p20"/>
          <p:cNvSpPr txBox="1"/>
          <p:nvPr/>
        </p:nvSpPr>
        <p:spPr>
          <a:xfrm>
            <a:off x="1133856" y="4782311"/>
            <a:ext cx="98754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Sem medição</a:t>
            </a:r>
            <a:r>
              <a:rPr lang="en-US" sz="16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vai ficar cada vez mais difícil provar seus argumentos.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p21"/>
          <p:cNvSpPr/>
          <p:nvPr/>
        </p:nvSpPr>
        <p:spPr>
          <a:xfrm>
            <a:off x="-6402" y="5850467"/>
            <a:ext cx="11520487" cy="6297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21"/>
          <p:cNvSpPr txBox="1">
            <a:spLocks noGrp="1"/>
          </p:cNvSpPr>
          <p:nvPr>
            <p:ph type="ctrTitle"/>
          </p:nvPr>
        </p:nvSpPr>
        <p:spPr>
          <a:xfrm>
            <a:off x="719932" y="512907"/>
            <a:ext cx="10152880" cy="864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00"/>
              <a:buFont typeface="Calibri"/>
              <a:buNone/>
            </a:pPr>
            <a:r>
              <a:rPr lang="en-US" sz="46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Por onde começar</a:t>
            </a:r>
            <a:endParaRPr/>
          </a:p>
        </p:txBody>
      </p:sp>
      <p:sp>
        <p:nvSpPr>
          <p:cNvPr id="551" name="Google Shape;551;p21"/>
          <p:cNvSpPr txBox="1"/>
          <p:nvPr/>
        </p:nvSpPr>
        <p:spPr>
          <a:xfrm>
            <a:off x="719138" y="226587"/>
            <a:ext cx="1512317" cy="288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WeComp 2026</a:t>
            </a:r>
            <a:endParaRPr/>
          </a:p>
        </p:txBody>
      </p:sp>
      <p:sp>
        <p:nvSpPr>
          <p:cNvPr id="552" name="Google Shape;552;p21"/>
          <p:cNvSpPr/>
          <p:nvPr/>
        </p:nvSpPr>
        <p:spPr>
          <a:xfrm>
            <a:off x="0" y="287759"/>
            <a:ext cx="719138" cy="14401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53" name="Google Shape;553;p21"/>
          <p:cNvCxnSpPr/>
          <p:nvPr/>
        </p:nvCxnSpPr>
        <p:spPr>
          <a:xfrm>
            <a:off x="2375868" y="359768"/>
            <a:ext cx="3204195" cy="0"/>
          </a:xfrm>
          <a:prstGeom prst="straightConnector1">
            <a:avLst/>
          </a:prstGeom>
          <a:noFill/>
          <a:ln w="12700" cap="flat" cmpd="sng">
            <a:solidFill>
              <a:srgbClr val="002060"/>
            </a:solidFill>
            <a:prstDash val="dot"/>
            <a:miter lim="8000"/>
            <a:headEnd type="none" w="sm" len="sm"/>
            <a:tailEnd type="none" w="sm" len="sm"/>
          </a:ln>
        </p:spPr>
      </p:cxnSp>
      <p:sp>
        <p:nvSpPr>
          <p:cNvPr id="554" name="Google Shape;554;p21"/>
          <p:cNvSpPr/>
          <p:nvPr/>
        </p:nvSpPr>
        <p:spPr>
          <a:xfrm>
            <a:off x="10794947" y="289037"/>
            <a:ext cx="719138" cy="430491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21"/>
          <p:cNvSpPr txBox="1">
            <a:spLocks noGrp="1"/>
          </p:cNvSpPr>
          <p:nvPr>
            <p:ph type="sldNum" idx="12"/>
          </p:nvPr>
        </p:nvSpPr>
        <p:spPr>
          <a:xfrm>
            <a:off x="10827962" y="331280"/>
            <a:ext cx="496328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28</a:t>
            </a:fld>
            <a:endParaRPr sz="12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6" name="Google Shape;556;p21"/>
          <p:cNvSpPr/>
          <p:nvPr/>
        </p:nvSpPr>
        <p:spPr>
          <a:xfrm>
            <a:off x="2340434" y="1481328"/>
            <a:ext cx="2088232" cy="14401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57" name="Google Shape;557;p21" descr="Logotipo, nome da empresa&#10;&#10;Descrição gerada automa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11416" y="5993243"/>
            <a:ext cx="1337524" cy="344158"/>
          </a:xfrm>
          <a:prstGeom prst="rect">
            <a:avLst/>
          </a:prstGeom>
          <a:noFill/>
          <a:ln>
            <a:noFill/>
          </a:ln>
        </p:spPr>
      </p:pic>
      <p:sp>
        <p:nvSpPr>
          <p:cNvPr id="558" name="Google Shape;558;p21"/>
          <p:cNvSpPr txBox="1"/>
          <p:nvPr/>
        </p:nvSpPr>
        <p:spPr>
          <a:xfrm>
            <a:off x="502920" y="1828800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666E7A"/>
                </a:solidFill>
                <a:latin typeface="Calibri"/>
                <a:ea typeface="Calibri"/>
                <a:cs typeface="Calibri"/>
                <a:sym typeface="Calibri"/>
              </a:rPr>
              <a:t>SE VOCÊ ESTÁ SOZINHO</a:t>
            </a:r>
            <a:endParaRPr/>
          </a:p>
        </p:txBody>
      </p:sp>
      <p:sp>
        <p:nvSpPr>
          <p:cNvPr id="559" name="Google Shape;559;p21"/>
          <p:cNvSpPr txBox="1"/>
          <p:nvPr/>
        </p:nvSpPr>
        <p:spPr>
          <a:xfrm>
            <a:off x="5943600" y="1828800"/>
            <a:ext cx="50748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666E7A"/>
                </a:solidFill>
                <a:latin typeface="Calibri"/>
                <a:ea typeface="Calibri"/>
                <a:cs typeface="Calibri"/>
                <a:sym typeface="Calibri"/>
              </a:rPr>
              <a:t>SE VOCÊ TEM </a:t>
            </a:r>
            <a:r>
              <a:rPr lang="en-US" sz="1100" b="1">
                <a:solidFill>
                  <a:srgbClr val="666E7A"/>
                </a:solidFill>
                <a:latin typeface="Calibri"/>
                <a:ea typeface="Calibri"/>
                <a:cs typeface="Calibri"/>
                <a:sym typeface="Calibri"/>
              </a:rPr>
              <a:t>ESTIVER EM UM </a:t>
            </a:r>
            <a:r>
              <a:rPr lang="en-US" sz="1100" b="1" i="0" u="none" strike="noStrike" cap="none">
                <a:solidFill>
                  <a:srgbClr val="666E7A"/>
                </a:solidFill>
                <a:latin typeface="Calibri"/>
                <a:ea typeface="Calibri"/>
                <a:cs typeface="Calibri"/>
                <a:sym typeface="Calibri"/>
              </a:rPr>
              <a:t>TIME</a:t>
            </a:r>
            <a:endParaRPr/>
          </a:p>
        </p:txBody>
      </p:sp>
      <p:sp>
        <p:nvSpPr>
          <p:cNvPr id="560" name="Google Shape;560;p21"/>
          <p:cNvSpPr/>
          <p:nvPr/>
        </p:nvSpPr>
        <p:spPr>
          <a:xfrm>
            <a:off x="502920" y="2286000"/>
            <a:ext cx="384048" cy="384048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561" name="Google Shape;561;p21"/>
          <p:cNvSpPr txBox="1"/>
          <p:nvPr/>
        </p:nvSpPr>
        <p:spPr>
          <a:xfrm>
            <a:off x="1069848" y="2304288"/>
            <a:ext cx="4480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Pegue um projeto que já existe</a:t>
            </a:r>
            <a:endParaRPr/>
          </a:p>
        </p:txBody>
      </p:sp>
      <p:sp>
        <p:nvSpPr>
          <p:cNvPr id="562" name="Google Shape;562;p21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563" name="Google Shape;563;p21"/>
          <p:cNvSpPr txBox="1"/>
          <p:nvPr/>
        </p:nvSpPr>
        <p:spPr>
          <a:xfrm>
            <a:off x="1069848" y="3236976"/>
            <a:ext cx="44805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Escreva o requisito antes de abrir o agente.</a:t>
            </a:r>
            <a:endParaRPr/>
          </a:p>
        </p:txBody>
      </p:sp>
      <p:sp>
        <p:nvSpPr>
          <p:cNvPr id="564" name="Google Shape;564;p21"/>
          <p:cNvSpPr/>
          <p:nvPr/>
        </p:nvSpPr>
        <p:spPr>
          <a:xfrm>
            <a:off x="502920" y="4151376"/>
            <a:ext cx="384048" cy="384048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565" name="Google Shape;565;p21"/>
          <p:cNvSpPr txBox="1"/>
          <p:nvPr/>
        </p:nvSpPr>
        <p:spPr>
          <a:xfrm>
            <a:off x="1069848" y="4169663"/>
            <a:ext cx="44805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Compare o teste gerado com o requisito, linha a linha.</a:t>
            </a:r>
            <a:endParaRPr/>
          </a:p>
        </p:txBody>
      </p:sp>
      <p:sp>
        <p:nvSpPr>
          <p:cNvPr id="566" name="Google Shape;566;p21"/>
          <p:cNvSpPr/>
          <p:nvPr/>
        </p:nvSpPr>
        <p:spPr>
          <a:xfrm>
            <a:off x="5943600" y="2286000"/>
            <a:ext cx="384048" cy="384048"/>
          </a:xfrm>
          <a:prstGeom prst="ellipse">
            <a:avLst/>
          </a:prstGeom>
          <a:solidFill>
            <a:srgbClr val="B06E1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567" name="Google Shape;567;p21"/>
          <p:cNvSpPr txBox="1"/>
          <p:nvPr/>
        </p:nvSpPr>
        <p:spPr>
          <a:xfrm>
            <a:off x="6510528" y="2304288"/>
            <a:ext cx="4480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Comece pelo passo mais chato, defina o requis</a:t>
            </a:r>
            <a:r>
              <a:rPr lang="en-US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ito.</a:t>
            </a:r>
            <a:endParaRPr/>
          </a:p>
        </p:txBody>
      </p:sp>
      <p:sp>
        <p:nvSpPr>
          <p:cNvPr id="568" name="Google Shape;568;p21"/>
          <p:cNvSpPr/>
          <p:nvPr/>
        </p:nvSpPr>
        <p:spPr>
          <a:xfrm>
            <a:off x="5943600" y="3218688"/>
            <a:ext cx="384048" cy="384048"/>
          </a:xfrm>
          <a:prstGeom prst="ellipse">
            <a:avLst/>
          </a:prstGeom>
          <a:solidFill>
            <a:srgbClr val="B06E1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569" name="Google Shape;569;p21"/>
          <p:cNvSpPr txBox="1"/>
          <p:nvPr/>
        </p:nvSpPr>
        <p:spPr>
          <a:xfrm>
            <a:off x="6510528" y="3236976"/>
            <a:ext cx="4480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Mantenha algum tipo de review humano</a:t>
            </a:r>
            <a:r>
              <a:rPr lang="en-US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570" name="Google Shape;570;p21"/>
          <p:cNvSpPr/>
          <p:nvPr/>
        </p:nvSpPr>
        <p:spPr>
          <a:xfrm>
            <a:off x="5943600" y="4151376"/>
            <a:ext cx="384048" cy="384048"/>
          </a:xfrm>
          <a:prstGeom prst="ellipse">
            <a:avLst/>
          </a:prstGeom>
          <a:solidFill>
            <a:srgbClr val="B06E1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571" name="Google Shape;571;p21"/>
          <p:cNvSpPr txBox="1"/>
          <p:nvPr/>
        </p:nvSpPr>
        <p:spPr>
          <a:xfrm>
            <a:off x="6510528" y="4169663"/>
            <a:ext cx="4480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Meça antes de escalar ou não saberá se funcionou.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g3fba01affed_0_22"/>
          <p:cNvSpPr/>
          <p:nvPr/>
        </p:nvSpPr>
        <p:spPr>
          <a:xfrm>
            <a:off x="-6402" y="5850467"/>
            <a:ext cx="11520600" cy="6297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g3fba01affed_0_22"/>
          <p:cNvSpPr txBox="1">
            <a:spLocks noGrp="1"/>
          </p:cNvSpPr>
          <p:nvPr>
            <p:ph type="ctrTitle"/>
          </p:nvPr>
        </p:nvSpPr>
        <p:spPr>
          <a:xfrm>
            <a:off x="719932" y="512907"/>
            <a:ext cx="10152900" cy="86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00"/>
              <a:buFont typeface="Calibri"/>
              <a:buNone/>
            </a:pPr>
            <a:r>
              <a:rPr lang="en-US" sz="4600" b="1">
                <a:solidFill>
                  <a:srgbClr val="000000"/>
                </a:solidFill>
              </a:rPr>
              <a:t>O Futuro</a:t>
            </a:r>
            <a:endParaRPr/>
          </a:p>
        </p:txBody>
      </p:sp>
      <p:sp>
        <p:nvSpPr>
          <p:cNvPr id="579" name="Google Shape;579;g3fba01affed_0_22"/>
          <p:cNvSpPr txBox="1"/>
          <p:nvPr/>
        </p:nvSpPr>
        <p:spPr>
          <a:xfrm>
            <a:off x="719138" y="226587"/>
            <a:ext cx="15123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WeComp 2026</a:t>
            </a:r>
            <a:endParaRPr/>
          </a:p>
        </p:txBody>
      </p:sp>
      <p:sp>
        <p:nvSpPr>
          <p:cNvPr id="580" name="Google Shape;580;g3fba01affed_0_22"/>
          <p:cNvSpPr/>
          <p:nvPr/>
        </p:nvSpPr>
        <p:spPr>
          <a:xfrm>
            <a:off x="0" y="287759"/>
            <a:ext cx="719100" cy="144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81" name="Google Shape;581;g3fba01affed_0_22"/>
          <p:cNvCxnSpPr/>
          <p:nvPr/>
        </p:nvCxnSpPr>
        <p:spPr>
          <a:xfrm>
            <a:off x="2375868" y="359768"/>
            <a:ext cx="3204300" cy="0"/>
          </a:xfrm>
          <a:prstGeom prst="straightConnector1">
            <a:avLst/>
          </a:prstGeom>
          <a:noFill/>
          <a:ln w="12700" cap="flat" cmpd="sng">
            <a:solidFill>
              <a:srgbClr val="002060"/>
            </a:solidFill>
            <a:prstDash val="dot"/>
            <a:miter lim="8000"/>
            <a:headEnd type="none" w="sm" len="sm"/>
            <a:tailEnd type="none" w="sm" len="sm"/>
          </a:ln>
        </p:spPr>
      </p:cxnSp>
      <p:sp>
        <p:nvSpPr>
          <p:cNvPr id="582" name="Google Shape;582;g3fba01affed_0_22"/>
          <p:cNvSpPr/>
          <p:nvPr/>
        </p:nvSpPr>
        <p:spPr>
          <a:xfrm>
            <a:off x="10794947" y="289037"/>
            <a:ext cx="719100" cy="4305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g3fba01affed_0_22"/>
          <p:cNvSpPr txBox="1">
            <a:spLocks noGrp="1"/>
          </p:cNvSpPr>
          <p:nvPr>
            <p:ph type="sldNum" idx="12"/>
          </p:nvPr>
        </p:nvSpPr>
        <p:spPr>
          <a:xfrm>
            <a:off x="10827962" y="331280"/>
            <a:ext cx="496200" cy="3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29</a:t>
            </a:fld>
            <a:endParaRPr sz="12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4" name="Google Shape;584;g3fba01affed_0_22"/>
          <p:cNvSpPr/>
          <p:nvPr/>
        </p:nvSpPr>
        <p:spPr>
          <a:xfrm>
            <a:off x="2340434" y="1481328"/>
            <a:ext cx="2088300" cy="144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85" name="Google Shape;585;g3fba01affed_0_22" descr="Logotipo, nome da empresa&#10;&#10;Descrição gerada automa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11416" y="5993243"/>
            <a:ext cx="1337524" cy="344158"/>
          </a:xfrm>
          <a:prstGeom prst="rect">
            <a:avLst/>
          </a:prstGeom>
          <a:noFill/>
          <a:ln>
            <a:noFill/>
          </a:ln>
        </p:spPr>
      </p:pic>
      <p:sp>
        <p:nvSpPr>
          <p:cNvPr id="586" name="Google Shape;586;g3fba01affed_0_22"/>
          <p:cNvSpPr/>
          <p:nvPr/>
        </p:nvSpPr>
        <p:spPr>
          <a:xfrm>
            <a:off x="439125" y="2516000"/>
            <a:ext cx="3328200" cy="2195400"/>
          </a:xfrm>
          <a:prstGeom prst="roundRect">
            <a:avLst>
              <a:gd name="adj" fmla="val 6941"/>
            </a:avLst>
          </a:prstGeom>
          <a:solidFill>
            <a:srgbClr val="F8FAFC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g3fba01affed_0_22"/>
          <p:cNvSpPr/>
          <p:nvPr/>
        </p:nvSpPr>
        <p:spPr>
          <a:xfrm>
            <a:off x="3984364" y="2637444"/>
            <a:ext cx="3328200" cy="1952700"/>
          </a:xfrm>
          <a:prstGeom prst="roundRect">
            <a:avLst>
              <a:gd name="adj" fmla="val 7804"/>
            </a:avLst>
          </a:prstGeom>
          <a:solidFill>
            <a:srgbClr val="F8FAFC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g3fba01affed_0_22"/>
          <p:cNvSpPr/>
          <p:nvPr/>
        </p:nvSpPr>
        <p:spPr>
          <a:xfrm>
            <a:off x="7529603" y="2516000"/>
            <a:ext cx="3328200" cy="2195400"/>
          </a:xfrm>
          <a:prstGeom prst="roundRect">
            <a:avLst>
              <a:gd name="adj" fmla="val 6941"/>
            </a:avLst>
          </a:prstGeom>
          <a:solidFill>
            <a:srgbClr val="F8FAFC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89" name="Google Shape;589;g3fba01affed_0_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37576" y="2830325"/>
            <a:ext cx="2731281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0" name="Google Shape;590;g3fba01affed_0_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282816" y="2951769"/>
            <a:ext cx="273128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1" name="Google Shape;591;g3fba01affed_0_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828055" y="2830325"/>
            <a:ext cx="273128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g3fba01affed_0_22"/>
          <p:cNvSpPr txBox="1"/>
          <p:nvPr/>
        </p:nvSpPr>
        <p:spPr>
          <a:xfrm>
            <a:off x="737576" y="3287525"/>
            <a:ext cx="35850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Adaptabilidade</a:t>
            </a:r>
            <a:endParaRPr/>
          </a:p>
        </p:txBody>
      </p:sp>
      <p:sp>
        <p:nvSpPr>
          <p:cNvPr id="593" name="Google Shape;593;g3fba01affed_0_22"/>
          <p:cNvSpPr txBox="1"/>
          <p:nvPr/>
        </p:nvSpPr>
        <p:spPr>
          <a:xfrm>
            <a:off x="737576" y="3668525"/>
            <a:ext cx="2821800" cy="7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Aprender a transitar entre requisitos de negócio e implementação técnica.</a:t>
            </a:r>
            <a:endParaRPr/>
          </a:p>
        </p:txBody>
      </p:sp>
      <p:sp>
        <p:nvSpPr>
          <p:cNvPr id="594" name="Google Shape;594;g3fba01affed_0_22"/>
          <p:cNvSpPr txBox="1"/>
          <p:nvPr/>
        </p:nvSpPr>
        <p:spPr>
          <a:xfrm>
            <a:off x="4282816" y="3408969"/>
            <a:ext cx="35850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Mitigação de Riscos</a:t>
            </a:r>
            <a:endParaRPr/>
          </a:p>
        </p:txBody>
      </p:sp>
      <p:sp>
        <p:nvSpPr>
          <p:cNvPr id="595" name="Google Shape;595;g3fba01affed_0_22"/>
          <p:cNvSpPr txBox="1"/>
          <p:nvPr/>
        </p:nvSpPr>
        <p:spPr>
          <a:xfrm>
            <a:off x="4282816" y="3789969"/>
            <a:ext cx="2821800" cy="4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Redução da incerteza e variáveis em sistemas complexos e LLMs.</a:t>
            </a:r>
            <a:endParaRPr/>
          </a:p>
        </p:txBody>
      </p:sp>
      <p:sp>
        <p:nvSpPr>
          <p:cNvPr id="596" name="Google Shape;596;g3fba01affed_0_22"/>
          <p:cNvSpPr txBox="1"/>
          <p:nvPr/>
        </p:nvSpPr>
        <p:spPr>
          <a:xfrm>
            <a:off x="7828055" y="3287525"/>
            <a:ext cx="35850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Valor Estratégico</a:t>
            </a:r>
            <a:endParaRPr/>
          </a:p>
        </p:txBody>
      </p:sp>
      <p:sp>
        <p:nvSpPr>
          <p:cNvPr id="597" name="Google Shape;597;g3fba01affed_0_22"/>
          <p:cNvSpPr txBox="1"/>
          <p:nvPr/>
        </p:nvSpPr>
        <p:spPr>
          <a:xfrm>
            <a:off x="7828055" y="3668525"/>
            <a:ext cx="2821800" cy="7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Atuação ativa em todo o ciclo do projeto para garantir o sucesso do produto.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22"/>
          <p:cNvSpPr/>
          <p:nvPr/>
        </p:nvSpPr>
        <p:spPr>
          <a:xfrm>
            <a:off x="-6402" y="5850467"/>
            <a:ext cx="11520487" cy="6297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22"/>
          <p:cNvSpPr txBox="1">
            <a:spLocks noGrp="1"/>
          </p:cNvSpPr>
          <p:nvPr>
            <p:ph type="ctrTitle"/>
          </p:nvPr>
        </p:nvSpPr>
        <p:spPr>
          <a:xfrm>
            <a:off x="719932" y="512907"/>
            <a:ext cx="10152880" cy="864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00"/>
              <a:buFont typeface="Calibri"/>
              <a:buNone/>
            </a:pPr>
            <a:r>
              <a:rPr lang="en-US" sz="46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Testado por quem?</a:t>
            </a:r>
            <a:endParaRPr/>
          </a:p>
        </p:txBody>
      </p:sp>
      <p:sp>
        <p:nvSpPr>
          <p:cNvPr id="605" name="Google Shape;605;p22"/>
          <p:cNvSpPr txBox="1"/>
          <p:nvPr/>
        </p:nvSpPr>
        <p:spPr>
          <a:xfrm>
            <a:off x="719138" y="226587"/>
            <a:ext cx="1512317" cy="288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WeComp 2026</a:t>
            </a:r>
            <a:endParaRPr/>
          </a:p>
        </p:txBody>
      </p:sp>
      <p:sp>
        <p:nvSpPr>
          <p:cNvPr id="606" name="Google Shape;606;p22"/>
          <p:cNvSpPr/>
          <p:nvPr/>
        </p:nvSpPr>
        <p:spPr>
          <a:xfrm>
            <a:off x="0" y="287759"/>
            <a:ext cx="719138" cy="14401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07" name="Google Shape;607;p22"/>
          <p:cNvCxnSpPr/>
          <p:nvPr/>
        </p:nvCxnSpPr>
        <p:spPr>
          <a:xfrm>
            <a:off x="2375868" y="359768"/>
            <a:ext cx="3204195" cy="0"/>
          </a:xfrm>
          <a:prstGeom prst="straightConnector1">
            <a:avLst/>
          </a:prstGeom>
          <a:noFill/>
          <a:ln w="12700" cap="flat" cmpd="sng">
            <a:solidFill>
              <a:srgbClr val="002060"/>
            </a:solidFill>
            <a:prstDash val="dot"/>
            <a:miter lim="8000"/>
            <a:headEnd type="none" w="sm" len="sm"/>
            <a:tailEnd type="none" w="sm" len="sm"/>
          </a:ln>
        </p:spPr>
      </p:cxnSp>
      <p:sp>
        <p:nvSpPr>
          <p:cNvPr id="608" name="Google Shape;608;p22"/>
          <p:cNvSpPr/>
          <p:nvPr/>
        </p:nvSpPr>
        <p:spPr>
          <a:xfrm>
            <a:off x="10794947" y="289037"/>
            <a:ext cx="719138" cy="430491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" name="Google Shape;609;p22"/>
          <p:cNvSpPr txBox="1">
            <a:spLocks noGrp="1"/>
          </p:cNvSpPr>
          <p:nvPr>
            <p:ph type="sldNum" idx="12"/>
          </p:nvPr>
        </p:nvSpPr>
        <p:spPr>
          <a:xfrm>
            <a:off x="10827962" y="331280"/>
            <a:ext cx="496328" cy="3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30</a:t>
            </a:fld>
            <a:endParaRPr sz="12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0" name="Google Shape;610;p22"/>
          <p:cNvSpPr/>
          <p:nvPr/>
        </p:nvSpPr>
        <p:spPr>
          <a:xfrm>
            <a:off x="2340434" y="1481328"/>
            <a:ext cx="2088232" cy="14401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11" name="Google Shape;611;p22" descr="Logotipo, nome da empresa&#10;&#10;Descrição gerada automa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11416" y="5993243"/>
            <a:ext cx="1337524" cy="344158"/>
          </a:xfrm>
          <a:prstGeom prst="rect">
            <a:avLst/>
          </a:prstGeom>
          <a:noFill/>
          <a:ln>
            <a:noFill/>
          </a:ln>
        </p:spPr>
      </p:pic>
      <p:sp>
        <p:nvSpPr>
          <p:cNvPr id="612" name="Google Shape;612;p22"/>
          <p:cNvSpPr/>
          <p:nvPr/>
        </p:nvSpPr>
        <p:spPr>
          <a:xfrm>
            <a:off x="502920" y="1965960"/>
            <a:ext cx="10515600" cy="2148840"/>
          </a:xfrm>
          <a:prstGeom prst="roundRect">
            <a:avLst>
              <a:gd name="adj" fmla="val 4000"/>
            </a:avLst>
          </a:prstGeom>
          <a:solidFill>
            <a:srgbClr val="002060"/>
          </a:solidFill>
          <a:ln>
            <a:noFill/>
          </a:ln>
        </p:spPr>
        <p:txBody>
          <a:bodyPr spcFirstLastPara="1" wrap="square" lIns="146300" tIns="109725" rIns="146300" bIns="1097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22"/>
          <p:cNvSpPr txBox="1"/>
          <p:nvPr/>
        </p:nvSpPr>
        <p:spPr>
          <a:xfrm>
            <a:off x="1005865" y="2442540"/>
            <a:ext cx="9509700" cy="117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 máquina executa</a:t>
            </a:r>
            <a:r>
              <a:rPr lang="en-US" sz="34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endParaRPr/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3400" b="1" i="0" u="none" strike="noStrike" cap="none">
                <a:solidFill>
                  <a:srgbClr val="E6B56A"/>
                </a:solidFill>
                <a:latin typeface="Calibri"/>
                <a:ea typeface="Calibri"/>
                <a:cs typeface="Calibri"/>
                <a:sym typeface="Calibri"/>
              </a:rPr>
              <a:t>O humano define o critério</a:t>
            </a:r>
            <a:r>
              <a:rPr lang="en-US" sz="3400" b="1">
                <a:solidFill>
                  <a:srgbClr val="E6B56A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614" name="Google Shape;614;p22"/>
          <p:cNvSpPr txBox="1"/>
          <p:nvPr/>
        </p:nvSpPr>
        <p:spPr>
          <a:xfrm>
            <a:off x="502920" y="4434840"/>
            <a:ext cx="10515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Automatizar a execução é a parte fácil</a:t>
            </a:r>
            <a:r>
              <a:rPr lang="en-US" sz="16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;</a:t>
            </a:r>
            <a:endParaRPr sz="16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 parte difícil continua sendo saber o que merece ser testado. Essa não dá para terceirizar.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0" name="Google Shape;620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3967" y="-1"/>
            <a:ext cx="11524455" cy="6480175"/>
          </a:xfrm>
          <a:prstGeom prst="rect">
            <a:avLst/>
          </a:prstGeom>
          <a:noFill/>
          <a:ln>
            <a:noFill/>
          </a:ln>
        </p:spPr>
      </p:pic>
      <p:sp>
        <p:nvSpPr>
          <p:cNvPr id="621" name="Google Shape;621;p23"/>
          <p:cNvSpPr/>
          <p:nvPr/>
        </p:nvSpPr>
        <p:spPr>
          <a:xfrm>
            <a:off x="1842952" y="3960166"/>
            <a:ext cx="9576668" cy="1000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23"/>
          <p:cNvSpPr txBox="1"/>
          <p:nvPr/>
        </p:nvSpPr>
        <p:spPr>
          <a:xfrm>
            <a:off x="960120" y="2331720"/>
            <a:ext cx="76809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600" b="1" i="0" u="none" strike="noStrike" cap="none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Obrigado</a:t>
            </a:r>
            <a:r>
              <a:rPr lang="en-US" sz="4600" b="1" i="0" u="none" strike="noStrike" cap="none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dirty="0"/>
          </a:p>
          <a:p>
            <a:pPr marL="0" marR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João Vitor de Caires</a:t>
            </a:r>
            <a:endParaRPr dirty="0"/>
          </a:p>
          <a:p>
            <a:pPr marL="0" marR="0" lvl="0" indent="0" algn="l" rtl="0">
              <a:spcBef>
                <a:spcPts val="30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E6B56A"/>
                </a:solidFill>
                <a:latin typeface="Montserrat"/>
                <a:ea typeface="Montserrat"/>
                <a:cs typeface="Montserrat"/>
                <a:sym typeface="Montserrat"/>
              </a:rPr>
              <a:t>Perguntas</a:t>
            </a:r>
            <a:r>
              <a:rPr lang="en-US" sz="2000" b="0" i="0" u="none" strike="noStrike" cap="none" dirty="0">
                <a:solidFill>
                  <a:srgbClr val="E6B56A"/>
                </a:solidFill>
                <a:latin typeface="Montserrat"/>
                <a:ea typeface="Montserrat"/>
                <a:cs typeface="Montserrat"/>
                <a:sym typeface="Montserrat"/>
              </a:rPr>
              <a:t>?</a:t>
            </a:r>
            <a:endParaRPr dirty="0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54DC2040-41CE-696E-B8F6-5827BC4A13BC}"/>
              </a:ext>
            </a:extLst>
          </p:cNvPr>
          <p:cNvSpPr txBox="1"/>
          <p:nvPr/>
        </p:nvSpPr>
        <p:spPr>
          <a:xfrm>
            <a:off x="7274656" y="113011"/>
            <a:ext cx="52854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spcBef>
                <a:spcPts val="3000"/>
              </a:spcBef>
            </a:pPr>
            <a:r>
              <a:rPr lang="en-US" dirty="0">
                <a:solidFill>
                  <a:srgbClr val="E6B56A"/>
                </a:solidFill>
                <a:latin typeface="Montserrat"/>
                <a:ea typeface="Montserrat"/>
                <a:cs typeface="Montserrat"/>
                <a:sym typeface="Montserrat"/>
              </a:rPr>
              <a:t>https://github.com/jvcaires/WeComp-Testing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1555</Words>
  <Application>Microsoft Office PowerPoint</Application>
  <PresentationFormat>Personalizar</PresentationFormat>
  <Paragraphs>255</Paragraphs>
  <Slides>31</Slides>
  <Notes>31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31</vt:i4>
      </vt:variant>
    </vt:vector>
  </HeadingPairs>
  <TitlesOfParts>
    <vt:vector size="39" baseType="lpstr">
      <vt:lpstr>Roboto</vt:lpstr>
      <vt:lpstr>Inter</vt:lpstr>
      <vt:lpstr>Montserrat Black</vt:lpstr>
      <vt:lpstr>Arial</vt:lpstr>
      <vt:lpstr>Plus Jakarta Sans</vt:lpstr>
      <vt:lpstr>Calibri</vt:lpstr>
      <vt:lpstr>Montserrat</vt:lpstr>
      <vt:lpstr>Tema do Office</vt:lpstr>
      <vt:lpstr>Apresentação do PowerPoint</vt:lpstr>
      <vt:lpstr>Agenda</vt:lpstr>
      <vt:lpstr>Apresentação do PowerPoint</vt:lpstr>
      <vt:lpstr>Agente, Ferramenta &amp; MCP</vt:lpstr>
      <vt:lpstr>Apresentação do PowerPoint</vt:lpstr>
      <vt:lpstr>Como se fazia software antes?</vt:lpstr>
      <vt:lpstr>Apresentação do PowerPoint</vt:lpstr>
      <vt:lpstr>Exemplificando</vt:lpstr>
      <vt:lpstr>Exemplificando</vt:lpstr>
      <vt:lpstr>Alguns novos problemas</vt:lpstr>
      <vt:lpstr>Assimetria</vt:lpstr>
      <vt:lpstr>Apresentação do PowerPoint</vt:lpstr>
      <vt:lpstr>Apresentação do PowerPoint</vt:lpstr>
      <vt:lpstr>O teste como espelho</vt:lpstr>
      <vt:lpstr>Alguns riscos</vt:lpstr>
      <vt:lpstr>Alguns principios</vt:lpstr>
      <vt:lpstr>Anatomia de um bom pedido</vt:lpstr>
      <vt:lpstr>Um exemplo prático</vt:lpstr>
      <vt:lpstr>Apresentação do PowerPoint</vt:lpstr>
      <vt:lpstr>Como construir confiança?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Quatro lições</vt:lpstr>
      <vt:lpstr>Por onde começar</vt:lpstr>
      <vt:lpstr>O Futuro</vt:lpstr>
      <vt:lpstr>Testado por quem?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Romerito Vieira Pontes</dc:creator>
  <cp:lastModifiedBy>Joao Caires</cp:lastModifiedBy>
  <cp:revision>1</cp:revision>
  <dcterms:created xsi:type="dcterms:W3CDTF">2021-05-18T18:37:35Z</dcterms:created>
  <dcterms:modified xsi:type="dcterms:W3CDTF">2026-09-21T16:29:31Z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c543c9c-c477-4599-9a17-3a5b9dbdff65_Enabled">
    <vt:lpwstr>true</vt:lpwstr>
  </property>
  <property fmtid="{D5CDD505-2E9C-101B-9397-08002B2CF9AE}" pid="3" name="MSIP_Label_0c543c9c-c477-4599-9a17-3a5b9dbdff65_SetDate">
    <vt:lpwstr>2026-02-20T14:05:45Z</vt:lpwstr>
  </property>
  <property fmtid="{D5CDD505-2E9C-101B-9397-08002B2CF9AE}" pid="4" name="MSIP_Label_0c543c9c-c477-4599-9a17-3a5b9dbdff65_Method">
    <vt:lpwstr>Standard</vt:lpwstr>
  </property>
  <property fmtid="{D5CDD505-2E9C-101B-9397-08002B2CF9AE}" pid="5" name="MSIP_Label_0c543c9c-c477-4599-9a17-3a5b9dbdff65_Name">
    <vt:lpwstr>0c543c9c-c477-4599-9a17-3a5b9dbdff65</vt:lpwstr>
  </property>
  <property fmtid="{D5CDD505-2E9C-101B-9397-08002B2CF9AE}" pid="6" name="MSIP_Label_0c543c9c-c477-4599-9a17-3a5b9dbdff65_SiteId">
    <vt:lpwstr>cc6b2eea-c864-4839-85f5-94736facc3be</vt:lpwstr>
  </property>
  <property fmtid="{D5CDD505-2E9C-101B-9397-08002B2CF9AE}" pid="7" name="MSIP_Label_0c543c9c-c477-4599-9a17-3a5b9dbdff65_ActionId">
    <vt:lpwstr>9aed72a3-ec87-4754-94a1-5ce2cb47ced2</vt:lpwstr>
  </property>
  <property fmtid="{D5CDD505-2E9C-101B-9397-08002B2CF9AE}" pid="8" name="MSIP_Label_0c543c9c-c477-4599-9a17-3a5b9dbdff65_ContentBits">
    <vt:lpwstr>0</vt:lpwstr>
  </property>
  <property fmtid="{D5CDD505-2E9C-101B-9397-08002B2CF9AE}" pid="9" name="MSIP_Label_0c543c9c-c477-4599-9a17-3a5b9dbdff65_Tag">
    <vt:lpwstr>10, 3, 0, 1</vt:lpwstr>
  </property>
</Properties>
</file>